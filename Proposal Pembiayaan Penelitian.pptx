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257" r:id="rId3"/>
    <p:sldId id="271" r:id="rId4"/>
    <p:sldId id="272" r:id="rId5"/>
    <p:sldId id="273" r:id="rId6"/>
    <p:sldId id="274" r:id="rId7"/>
  </p:sldIdLst>
  <p:sldSz cx="12192000" cy="6858000"/>
  <p:notesSz cx="6858000" cy="9144000"/>
  <p:defaultTextStyle>
    <a:defPPr rtl="0"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850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7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d-ID" dirty="0"/>
          </a:p>
        </p:txBody>
      </p:sp>
      <p:sp>
        <p:nvSpPr>
          <p:cNvPr id="3" name="Tampungan Tanggal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DBFDF0-7DD0-4716-89BA-EAF15DE3A3A0}" type="datetime1">
              <a:rPr lang="id-ID" smtClean="0"/>
              <a:t>09/06/2025</a:t>
            </a:fld>
            <a:endParaRPr lang="id-ID" dirty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d-ID" dirty="0"/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id-ID" smtClean="0"/>
              <a:t>‹#›</a:t>
            </a:fld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d-ID" noProof="0" dirty="0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BD743-42A5-492F-B065-32BBD8613B97}" type="datetime1">
              <a:rPr lang="id-ID" smtClean="0"/>
              <a:pPr/>
              <a:t>09/06/2025</a:t>
            </a:fld>
            <a:endParaRPr lang="id-ID" dirty="0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d-ID" noProof="0" dirty="0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d-ID" noProof="0" dirty="0"/>
              <a:t>Klik untuk mengedit gaya teks Master</a:t>
            </a:r>
          </a:p>
          <a:p>
            <a:pPr lvl="1" rtl="0"/>
            <a:r>
              <a:rPr lang="id-ID" noProof="0" dirty="0"/>
              <a:t>Tingkat kedua</a:t>
            </a:r>
          </a:p>
          <a:p>
            <a:pPr lvl="2" rtl="0"/>
            <a:r>
              <a:rPr lang="id-ID" noProof="0" dirty="0"/>
              <a:t>Tingkat ketiga</a:t>
            </a:r>
          </a:p>
          <a:p>
            <a:pPr lvl="3" rtl="0"/>
            <a:r>
              <a:rPr lang="id-ID" noProof="0" dirty="0"/>
              <a:t>Tingkat keempat</a:t>
            </a:r>
          </a:p>
          <a:p>
            <a:pPr lvl="4" rtl="0"/>
            <a:r>
              <a:rPr lang="id-ID" noProof="0" dirty="0"/>
              <a:t>Tingkat kelima</a:t>
            </a:r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d-ID" noProof="0" dirty="0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2869989-EB00-4EE7-BCB5-25BDC5BB29F8}" type="slidenum">
              <a:rPr lang="id-ID" noProof="0" smtClean="0"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id-ID" smtClean="0"/>
              <a:t>1</a:t>
            </a:fld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77184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d-ID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id-ID" smtClean="0"/>
              <a:t>2</a:t>
            </a:fld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D9703-C823-3967-AD14-50A63A88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Gambar Slide 1">
            <a:extLst>
              <a:ext uri="{FF2B5EF4-FFF2-40B4-BE49-F238E27FC236}">
                <a16:creationId xmlns:a16="http://schemas.microsoft.com/office/drawing/2014/main" id="{0FC6CC5E-7977-D8DA-6864-4B037F187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FEE2DA50-1395-761E-72D9-F6CB53302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d-ID" dirty="0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9768A118-17B7-C184-853E-0CDB29030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id-ID" smtClean="0"/>
              <a:t>3</a:t>
            </a:fld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01722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9D9A-85A5-0DE0-7C6C-1F318034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Gambar Slide 1">
            <a:extLst>
              <a:ext uri="{FF2B5EF4-FFF2-40B4-BE49-F238E27FC236}">
                <a16:creationId xmlns:a16="http://schemas.microsoft.com/office/drawing/2014/main" id="{A94B9813-E6C2-B1F5-F6E7-3E849E6B9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84FC929B-E32B-B150-3C97-20FC1351F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d-ID" dirty="0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A2359584-3D80-45CA-A290-067BA95578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id-ID" smtClean="0"/>
              <a:t>4</a:t>
            </a:fld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8524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76A8-019A-1D4E-E447-0051BBD4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Gambar Slide 1">
            <a:extLst>
              <a:ext uri="{FF2B5EF4-FFF2-40B4-BE49-F238E27FC236}">
                <a16:creationId xmlns:a16="http://schemas.microsoft.com/office/drawing/2014/main" id="{725BDD03-6841-3A38-E170-FCB72D90A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F4FC8C29-CF5C-DCDA-51F1-2F88BE877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d-ID" dirty="0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076CEE09-7941-9FBA-0299-FDC81ADCE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id-ID" smtClean="0"/>
              <a:t>5</a:t>
            </a:fld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6904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D9DA-1F6F-AAEB-984F-EF5BCAAF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Gambar Slide 1">
            <a:extLst>
              <a:ext uri="{FF2B5EF4-FFF2-40B4-BE49-F238E27FC236}">
                <a16:creationId xmlns:a16="http://schemas.microsoft.com/office/drawing/2014/main" id="{9A581F08-F42D-0AED-B8DE-57C2785CA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>
            <a:extLst>
              <a:ext uri="{FF2B5EF4-FFF2-40B4-BE49-F238E27FC236}">
                <a16:creationId xmlns:a16="http://schemas.microsoft.com/office/drawing/2014/main" id="{3AFFA5AA-B799-A452-94E7-CB3EC0DB7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d-ID" dirty="0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E5909E96-CD75-813A-B928-ACB03C0B40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id-ID" smtClean="0"/>
              <a:t>6</a:t>
            </a:fld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3756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Konektor Lurus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Konektor Lurus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Konektor Lurus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Penyambung Lurus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Konektor Lurus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Konektor Lurus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Konektor Lurus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Konektor Lurus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Konektor Lurus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Konektor Lurus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Konektor Lurus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Konektor Lurus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Konektor Lurus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Konektor Lurus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Konektor Lurus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Konektor Lurus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Konektor Lurus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Konektor Lurus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Konektor Lurus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Konektor Lurus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Konektor Lurus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Konektor Lurus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Konektor Lurus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Konektor Lurus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Konektor Lurus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Konektor Lurus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Konektor Lurus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Konektor Lurus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Konektor Lurus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Konektor Lurus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Konektor Lurus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Konektor Lurus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Konektor Lurus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Konektor Lurus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Konektor Lurus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Konektor Lurus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Konektor Lurus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Konektor Lurus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Konektor Lurus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Konektor Lurus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Konektor Lurus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Konektor Lurus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Konektor Lurus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Konektor Lurus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Konektor Lurus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Konektor Lurus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Judul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85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Subjudul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id-ID" noProof="0" dirty="0"/>
          </a:p>
        </p:txBody>
      </p:sp>
      <p:cxnSp>
        <p:nvCxnSpPr>
          <p:cNvPr id="58" name="Konektor Lurus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Tampungan Konten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458E4A-2C40-4C34-AF78-A6F6BC8D2E45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d-ID" noProof="0" smtClean="0"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eader Bagian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Konektor Lurus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Konektor Lurus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Konektor Lurus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Konektor Lurus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Konektor Lurus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Konektor Lurus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Konektor Lurus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Konektor Lurus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Konektor Lurus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Konektor Lurus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Konektor Lurus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Konektor Lurus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Konektor Lurus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Konektor Lurus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Konektor Lurus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Konektor Lurus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Konektor Lurus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Konektor Lurus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Konektor Lurus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Konektor Lurus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Konektor Lurus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Konektor Lurus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Konektor Lurus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Konektor Lurus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Konektor Lurus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Konektor Lurus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Konektor Lurus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Konektor Lurus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Konektor Lurus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Konektor Lurus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Konektor Lurus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Konektor Lurus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Konektor Lurus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Konektor Lurus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Konektor Lurus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Konektor Lurus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Konektor Lurus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Konektor Lurus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Konektor Lurus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Konektor Lurus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Konektor Lurus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Konektor Lurus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Konektor Lurus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Konektor Lurus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Konektor Lurus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Konektor Lurus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58" name="Konektor Lurus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Tampungan Konten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4" name="Tampungan Konten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CC93A1-E8D9-4796-8A9D-1772EECAAA18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d-ID" noProof="0" smtClean="0"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Tampungan Konten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" name="Tampungan Teks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Tampungan Konten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8" name="Tampungan Kaki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7" name="Tampungan Tanggal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2FA222-47F3-4553-AFDF-07C008D1CD7A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9" name="Tampungan Nomor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d-ID" noProof="0" smtClean="0"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A008E7-024E-4261-B14C-B00D020BDA14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d-ID" noProof="0" smtClean="0"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Konektor Lurus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Konektor Lurus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Konektor Lurus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Konektor Lurus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Konektor Lurus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Konektor Lurus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Konektor Lurus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Konektor Lurus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Konektor Lurus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Konektor Lurus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Konektor Lurus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Konektor Lurus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Konektor Lurus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Konektor Lurus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Konektor Lurus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Konektor Lurus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Konektor Lurus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Konektor Lurus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Konektor Lurus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Konektor Lurus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Konektor Lurus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Konektor Lurus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Konektor Lurus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Konektor Lurus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Konektor Lurus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Konektor Lurus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Konektor Lurus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Konektor Lurus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Konektor Lurus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Konektor Lurus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Konektor Lurus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Konektor Lurus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Konektor Lurus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Konektor Lurus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Konektor Lurus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Konektor Lurus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Konektor Lurus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Konektor Lurus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Konektor Lurus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Konektor Lurus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Konektor Lurus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Konektor Lurus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Konektor Lurus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Konektor Lurus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Konektor Lurus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Konektor Lurus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Placeholder Kaki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212" name="Placeholder Tanggal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3AD46D-8C04-4C94-87D0-D3D92CC6A3EF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214" name="Placeholder Nomor Slide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d-ID" noProof="0" smtClean="0"/>
              <a:pPr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Konten dengan Keteranga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Konektor Lurus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Konektor Lurus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Konektor Lurus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Konektor Lurus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Konektor Lurus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Konektor Lurus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Konektor Lurus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Konektor Lurus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Konektor Lurus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Konektor Lurus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Konektor Lurus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Konektor Lurus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Konektor Lurus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Konektor Lurus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Konektor Lurus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Konektor Lurus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Konektor Lurus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Konektor Lurus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Konektor Lurus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Konektor Lurus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Konektor Lurus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Konektor Lurus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Konektor Lurus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Konektor Lurus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Konektor Lurus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Konektor Lurus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Konektor Lurus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Konektor Lurus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Konektor Lurus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Konektor Lurus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Konektor Lurus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Konektor Lurus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Konektor Lurus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Konektor Lurus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Konektor Lurus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Konektor Lurus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Konektor Lurus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Konektor Lurus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Konektor Lurus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Konektor Lurus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Konektor Lurus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Konektor Lurus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Konektor Lurus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Konektor Lurus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Konektor Lurus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Konektor Lurus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Persegi panjang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d-ID" noProof="0" dirty="0"/>
          </a:p>
        </p:txBody>
      </p: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Placeholder Konten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60" name="Konektor Lurus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laceholder Foo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AD62934-4126-48DE-AD0D-646C68469AB2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8" name="Placeholder Nomor Slide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31375A4-56A4-47D6-9801-1991572033F7}" type="slidenum">
              <a:rPr lang="id-ID" noProof="0" smtClean="0"/>
              <a:pPr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Gambar dengan Keteranga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Konektor Lurus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Konektor Lurus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Konektor Lurus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Konektor Lurus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Konektor Lurus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Konektor Lurus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Konektor Lurus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Konektor Lurus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Konektor Lurus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Konektor Lurus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Konektor Lurus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Konektor Lurus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Konektor Lurus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Konektor Lurus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Konektor Lurus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Konektor Lurus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Konektor Lurus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Konektor Lurus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Konektor Lurus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Konektor Lurus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Konektor Lurus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Konektor Lurus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Konektor Lurus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Konektor Lurus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Konektor Lurus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Konektor Lurus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Konektor Lurus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Konektor Lurus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Konektor Lurus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Konektor Lurus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Konektor Lurus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Konektor Lurus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Konektor Lurus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Konektor Lurus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Konektor Lurus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Konektor Lurus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Konektor Lurus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Konektor Lurus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Konektor Lurus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Konektor Lurus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Konektor Lurus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Konektor Lurus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Konektor Lurus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Konektor Lurus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Konektor Lurus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Konektor Lurus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Persegi panjang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d-ID" noProof="0" dirty="0"/>
          </a:p>
        </p:txBody>
      </p:sp>
      <p:cxnSp>
        <p:nvCxnSpPr>
          <p:cNvPr id="59" name="Konektor Lurus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Placeholder Gambar 2" descr="Placeholder kosong untuk menambahkan gambar. Klik placeholder lalu pilih gambar yang ingin Anda tambahkan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id-ID" noProof="0" dirty="0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Placeholder Teks Vertik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3A1FC4-1DA8-4E4A-A73C-E76D6A39737E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d-ID" noProof="0" smtClean="0"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ks dan Judul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id-ID" noProof="0" dirty="0"/>
          </a:p>
        </p:txBody>
      </p:sp>
      <p:sp>
        <p:nvSpPr>
          <p:cNvPr id="3" name="Placeholder Teks Vertikal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id-ID" noProof="0" dirty="0"/>
          </a:p>
        </p:txBody>
      </p:sp>
      <p:sp>
        <p:nvSpPr>
          <p:cNvPr id="5" name="Placeholder Foo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3D0144-2FF0-4518-AAC8-2DC1BF3AD39E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id-ID" noProof="0" smtClean="0"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Konektor Lurus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Konektor Lurus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Konektor Lurus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Konektor Lurus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Konektor Lurus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Konektor Lurus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Konektor Lurus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Konektor Lurus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Konektor Lurus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Konektor Lurus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Konektor Lurus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Konektor Lurus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Konektor Lurus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Konektor Lurus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Konektor Lurus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Konektor Lurus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Konektor Lurus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Konektor Lurus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Konektor Lurus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Konektor Lurus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Konektor Lurus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Konektor Lurus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Konektor Lurus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Konektor Lurus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Konektor Lurus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Konektor Lurus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Konektor Lurus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Konektor Lurus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Konektor Lurus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Konektor Lurus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Konektor Lurus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Konektor Lurus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Konektor Lurus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Konektor Lurus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Konektor Lurus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Konektor Lurus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Konektor Lurus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Konektor Lurus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Konektor Lurus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Konektor Lurus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Konektor Lurus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Konektor Lurus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Konektor Lurus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Konektor Lurus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Konektor Lurus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Konektor Lurus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Placeholder Judul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d-ID" noProof="0" dirty="0"/>
              <a:t>Klik untuk mengedit gaya judul Master</a:t>
            </a:r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d-ID" noProof="0" dirty="0"/>
              <a:t>Klik untuk mengedit gaya teks Master</a:t>
            </a:r>
          </a:p>
          <a:p>
            <a:pPr lvl="1" rtl="0"/>
            <a:r>
              <a:rPr lang="id-ID" noProof="0" dirty="0"/>
              <a:t>Tingkat kedua</a:t>
            </a:r>
          </a:p>
          <a:p>
            <a:pPr lvl="2" rtl="0"/>
            <a:r>
              <a:rPr lang="id-ID" noProof="0" dirty="0"/>
              <a:t>Tingkat ketiga</a:t>
            </a:r>
          </a:p>
          <a:p>
            <a:pPr lvl="3" rtl="0"/>
            <a:r>
              <a:rPr lang="id-ID" noProof="0" dirty="0"/>
              <a:t>Tingkat keempat</a:t>
            </a:r>
          </a:p>
          <a:p>
            <a:pPr lvl="4" rtl="0"/>
            <a:r>
              <a:rPr lang="id-ID" noProof="0" dirty="0"/>
              <a:t>Tingkat kelima</a:t>
            </a:r>
          </a:p>
        </p:txBody>
      </p:sp>
      <p:cxnSp>
        <p:nvCxnSpPr>
          <p:cNvPr id="148" name="Konektor Lurus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 Foot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id-ID" noProof="0" dirty="0"/>
              <a:t>Tambahkan </a:t>
            </a:r>
            <a:r>
              <a:rPr lang="id-ID" noProof="0" dirty="0" err="1"/>
              <a:t>footer</a:t>
            </a:r>
            <a:endParaRPr lang="id-ID" noProof="0" dirty="0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59595E09-6B09-4D27-811F-D344CBB5DAD4}" type="datetime1">
              <a:rPr lang="id-ID" noProof="0" smtClean="0"/>
              <a:t>09/06/2025</a:t>
            </a:fld>
            <a:endParaRPr lang="id-ID" noProof="0" dirty="0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id-ID" noProof="0" smtClean="0"/>
              <a:pPr/>
              <a:t>‹#›</a:t>
            </a:fld>
            <a:endParaRPr lang="id-ID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sz="6000" dirty="0"/>
              <a:t>Proposal </a:t>
            </a:r>
            <a:r>
              <a:rPr lang="en-US" sz="6000" dirty="0" err="1"/>
              <a:t>Pembiayaan</a:t>
            </a:r>
            <a:r>
              <a:rPr lang="en-US" sz="6000" dirty="0"/>
              <a:t> </a:t>
            </a:r>
            <a:r>
              <a:rPr lang="en-US" sz="6000" dirty="0" err="1"/>
              <a:t>Penelitian</a:t>
            </a:r>
            <a:endParaRPr lang="id-ID" sz="6000" dirty="0"/>
          </a:p>
        </p:txBody>
      </p:sp>
      <p:sp>
        <p:nvSpPr>
          <p:cNvPr id="3" name="Subjudul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sz="2400" dirty="0" err="1"/>
              <a:t>Klasifikasi</a:t>
            </a:r>
            <a:r>
              <a:rPr lang="en-US" sz="2400" dirty="0"/>
              <a:t> Pola Curah </a:t>
            </a:r>
            <a:r>
              <a:rPr lang="en-US" sz="2400" dirty="0" err="1"/>
              <a:t>Hujan</a:t>
            </a:r>
            <a:r>
              <a:rPr lang="en-US" sz="2400" dirty="0"/>
              <a:t> di Stasiun </a:t>
            </a:r>
            <a:r>
              <a:rPr lang="en-US" sz="2400" dirty="0" err="1"/>
              <a:t>Meteorologi</a:t>
            </a:r>
            <a:r>
              <a:rPr lang="en-US" sz="2400" dirty="0"/>
              <a:t> Maritim </a:t>
            </a:r>
            <a:r>
              <a:rPr lang="en-US" sz="2400" dirty="0" err="1"/>
              <a:t>Serang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Outline</a:t>
            </a:r>
            <a:endParaRPr lang="id-ID" dirty="0"/>
          </a:p>
        </p:txBody>
      </p:sp>
      <p:sp>
        <p:nvSpPr>
          <p:cNvPr id="3" name="Tampungan Konten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dirty="0" err="1"/>
              <a:t>Pendahuluan</a:t>
            </a:r>
            <a:r>
              <a:rPr lang="en-US" dirty="0"/>
              <a:t> &amp;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Permasalahan</a:t>
            </a:r>
            <a:endParaRPr lang="en-US" dirty="0"/>
          </a:p>
          <a:p>
            <a:pPr rtl="0"/>
            <a:r>
              <a:rPr lang="en-US" dirty="0" err="1"/>
              <a:t>Metodologi</a:t>
            </a:r>
            <a:r>
              <a:rPr lang="en-US" dirty="0"/>
              <a:t> &amp; </a:t>
            </a:r>
            <a:r>
              <a:rPr lang="en-US" dirty="0" err="1"/>
              <a:t>Referensi</a:t>
            </a:r>
            <a:r>
              <a:rPr lang="en-US" dirty="0"/>
              <a:t> Utama</a:t>
            </a:r>
          </a:p>
          <a:p>
            <a:pPr rtl="0"/>
            <a:r>
              <a:rPr lang="en-US" dirty="0" err="1"/>
              <a:t>Ekspektasi</a:t>
            </a:r>
            <a:r>
              <a:rPr lang="en-US" dirty="0"/>
              <a:t> Hasil</a:t>
            </a:r>
          </a:p>
          <a:p>
            <a:pPr rtl="0"/>
            <a:r>
              <a:rPr lang="en-US" dirty="0" err="1"/>
              <a:t>Penyajian</a:t>
            </a:r>
            <a:endParaRPr lang="en-US" dirty="0"/>
          </a:p>
          <a:p>
            <a:pPr rtl="0"/>
            <a:r>
              <a:rPr lang="en-US" dirty="0"/>
              <a:t>Usulan </a:t>
            </a:r>
            <a:r>
              <a:rPr lang="en-US" dirty="0" err="1"/>
              <a:t>Biaya</a:t>
            </a:r>
            <a:endParaRPr lang="en-US" dirty="0"/>
          </a:p>
          <a:p>
            <a:pPr rtl="0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41079-BF61-6648-B096-9C1DF371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A0889AF-47D9-7E8C-9486-6CCB0DBE1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634283"/>
          </a:xfrm>
        </p:spPr>
        <p:txBody>
          <a:bodyPr rtlCol="0"/>
          <a:lstStyle/>
          <a:p>
            <a:pPr rtl="0"/>
            <a:r>
              <a:rPr lang="en-US" dirty="0" err="1"/>
              <a:t>Pendahuluan</a:t>
            </a:r>
            <a:endParaRPr lang="id-ID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A5255240-A548-A92A-22F2-CEC3C23FE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504546"/>
            <a:ext cx="9601200" cy="1822314"/>
          </a:xfrm>
        </p:spPr>
        <p:txBody>
          <a:bodyPr rtlCol="0"/>
          <a:lstStyle/>
          <a:p>
            <a:pPr rtl="0"/>
            <a:r>
              <a:rPr lang="en-US" dirty="0" err="1"/>
              <a:t>Pentingnya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iklim</a:t>
            </a:r>
            <a:r>
              <a:rPr lang="en-US" dirty="0"/>
              <a:t> di Kota </a:t>
            </a:r>
            <a:r>
              <a:rPr lang="en-US" dirty="0" err="1"/>
              <a:t>Serang</a:t>
            </a:r>
            <a:r>
              <a:rPr lang="en-US" dirty="0"/>
              <a:t>: Bisa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Pemda</a:t>
            </a:r>
            <a:r>
              <a:rPr lang="en-US" dirty="0"/>
              <a:t> Banten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Pemkot</a:t>
            </a:r>
            <a:r>
              <a:rPr lang="en-US" dirty="0"/>
              <a:t> </a:t>
            </a:r>
            <a:r>
              <a:rPr lang="en-US" dirty="0" err="1"/>
              <a:t>Serang</a:t>
            </a:r>
            <a:r>
              <a:rPr lang="en-US" dirty="0"/>
              <a:t>, </a:t>
            </a:r>
            <a:r>
              <a:rPr lang="en-US" dirty="0" err="1"/>
              <a:t>layanan</a:t>
            </a:r>
            <a:r>
              <a:rPr lang="en-US" dirty="0"/>
              <a:t> BMKG </a:t>
            </a:r>
            <a:r>
              <a:rPr lang="en-US" dirty="0" err="1"/>
              <a:t>Serang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.</a:t>
            </a:r>
          </a:p>
          <a:p>
            <a:pPr rtl="0"/>
            <a:r>
              <a:rPr lang="en-US" dirty="0"/>
              <a:t>Belum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di Stamet </a:t>
            </a:r>
            <a:r>
              <a:rPr lang="en-US" dirty="0" err="1"/>
              <a:t>Serang</a:t>
            </a:r>
            <a:r>
              <a:rPr lang="en-US" dirty="0"/>
              <a:t>.</a:t>
            </a:r>
          </a:p>
          <a:p>
            <a:pPr rtl="0"/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interpretasi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di Stamet </a:t>
            </a:r>
            <a:r>
              <a:rPr lang="en-US" dirty="0" err="1"/>
              <a:t>Serang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4" name="Judul 1">
            <a:extLst>
              <a:ext uri="{FF2B5EF4-FFF2-40B4-BE49-F238E27FC236}">
                <a16:creationId xmlns:a16="http://schemas.microsoft.com/office/drawing/2014/main" id="{5F6AE9B0-B814-7B9D-40B8-CAB4B8537985}"/>
              </a:ext>
            </a:extLst>
          </p:cNvPr>
          <p:cNvSpPr txBox="1">
            <a:spLocks/>
          </p:cNvSpPr>
          <p:nvPr/>
        </p:nvSpPr>
        <p:spPr>
          <a:xfrm>
            <a:off x="1295400" y="3429000"/>
            <a:ext cx="9601200" cy="6342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id-ID" dirty="0"/>
          </a:p>
        </p:txBody>
      </p:sp>
      <p:sp>
        <p:nvSpPr>
          <p:cNvPr id="5" name="Tampungan Konten 2">
            <a:extLst>
              <a:ext uri="{FF2B5EF4-FFF2-40B4-BE49-F238E27FC236}">
                <a16:creationId xmlns:a16="http://schemas.microsoft.com/office/drawing/2014/main" id="{AE093CD1-2A8A-5170-94BC-1C3AC1CD90A2}"/>
              </a:ext>
            </a:extLst>
          </p:cNvPr>
          <p:cNvSpPr txBox="1">
            <a:spLocks/>
          </p:cNvSpPr>
          <p:nvPr/>
        </p:nvSpPr>
        <p:spPr>
          <a:xfrm>
            <a:off x="1295400" y="4165423"/>
            <a:ext cx="9601200" cy="1822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terbaik</a:t>
            </a:r>
            <a:r>
              <a:rPr lang="en-US" dirty="0"/>
              <a:t> dan paling </a:t>
            </a:r>
            <a:r>
              <a:rPr lang="en-US" dirty="0" err="1"/>
              <a:t>stabil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mengelompokkan</a:t>
            </a:r>
            <a:r>
              <a:rPr lang="en-US" dirty="0"/>
              <a:t> data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di Stamet </a:t>
            </a:r>
            <a:r>
              <a:rPr lang="en-US" dirty="0" err="1"/>
              <a:t>Serang</a:t>
            </a:r>
            <a:r>
              <a:rPr lang="en-US" dirty="0"/>
              <a:t>?</a:t>
            </a:r>
          </a:p>
          <a:p>
            <a:r>
              <a:rPr lang="en-US" dirty="0"/>
              <a:t>Apa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kelompok-kelompok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di Stamet </a:t>
            </a:r>
            <a:r>
              <a:rPr lang="en-US" dirty="0" err="1"/>
              <a:t>Serang</a:t>
            </a:r>
            <a:r>
              <a:rPr lang="en-US" dirty="0"/>
              <a:t>?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3421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993B-A83F-667F-4D0E-DB5E722C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47DDCC6-34F8-DBA2-E8B4-7535076E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634283"/>
          </a:xfrm>
        </p:spPr>
        <p:txBody>
          <a:bodyPr rtlCol="0"/>
          <a:lstStyle/>
          <a:p>
            <a:pPr rtl="0"/>
            <a:r>
              <a:rPr lang="en-US" dirty="0" err="1"/>
              <a:t>Metodologi</a:t>
            </a:r>
            <a:r>
              <a:rPr lang="en-US" dirty="0"/>
              <a:t> dan </a:t>
            </a:r>
            <a:r>
              <a:rPr lang="en-US" dirty="0" err="1"/>
              <a:t>Referensi</a:t>
            </a:r>
            <a:r>
              <a:rPr lang="en-US" dirty="0"/>
              <a:t> Utama</a:t>
            </a:r>
            <a:endParaRPr lang="id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F0C8D-376F-757A-CF24-E8F22DA801EB}"/>
              </a:ext>
            </a:extLst>
          </p:cNvPr>
          <p:cNvSpPr txBox="1"/>
          <p:nvPr/>
        </p:nvSpPr>
        <p:spPr>
          <a:xfrm>
            <a:off x="1295400" y="1274323"/>
            <a:ext cx="960120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</a:t>
            </a:r>
            <a:r>
              <a:rPr lang="en-US" dirty="0"/>
              <a:t>: Curah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dasarian</a:t>
            </a:r>
            <a:r>
              <a:rPr lang="en-US" dirty="0"/>
              <a:t>/</a:t>
            </a:r>
            <a:r>
              <a:rPr lang="en-US" dirty="0" err="1"/>
              <a:t>harian</a:t>
            </a:r>
            <a:r>
              <a:rPr lang="en-US" dirty="0"/>
              <a:t> Stamet </a:t>
            </a:r>
            <a:r>
              <a:rPr lang="en-US" dirty="0" err="1"/>
              <a:t>Serang</a:t>
            </a:r>
            <a:r>
              <a:rPr lang="en-US" dirty="0"/>
              <a:t>, </a:t>
            </a:r>
            <a:r>
              <a:rPr lang="en-US" dirty="0" err="1"/>
              <a:t>tahun</a:t>
            </a:r>
            <a:r>
              <a:rPr lang="en-US" dirty="0"/>
              <a:t> 1995—2024 (</a:t>
            </a:r>
            <a:r>
              <a:rPr lang="en-US" dirty="0" err="1"/>
              <a:t>Berdasar</a:t>
            </a:r>
            <a:r>
              <a:rPr lang="en-US" dirty="0"/>
              <a:t> Aldrian &amp; Susanto, 2003)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Algoritma</a:t>
            </a:r>
            <a:r>
              <a:rPr lang="en-US" dirty="0"/>
              <a:t>: K-Means, Agglomerative Ward, DBSCAN (</a:t>
            </a:r>
            <a:r>
              <a:rPr lang="en-US" dirty="0" err="1"/>
              <a:t>Sofro</a:t>
            </a:r>
            <a:r>
              <a:rPr lang="en-US" dirty="0"/>
              <a:t>, et. al., 2024, </a:t>
            </a:r>
            <a:r>
              <a:rPr lang="en-US" dirty="0" err="1"/>
              <a:t>Pamuji</a:t>
            </a:r>
            <a:r>
              <a:rPr lang="en-US" dirty="0"/>
              <a:t> &amp; </a:t>
            </a:r>
            <a:r>
              <a:rPr lang="en-US" dirty="0" err="1"/>
              <a:t>Rongtao</a:t>
            </a:r>
            <a:r>
              <a:rPr lang="en-US" dirty="0"/>
              <a:t>, 2020)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Tuning Model</a:t>
            </a:r>
            <a:r>
              <a:rPr lang="en-US" dirty="0"/>
              <a:t>: Bootstrap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Validasi</a:t>
            </a:r>
            <a:r>
              <a:rPr lang="en-US" dirty="0"/>
              <a:t>: Silhouette, Davies-Bouldin, </a:t>
            </a:r>
            <a:r>
              <a:rPr lang="en-US" dirty="0" err="1"/>
              <a:t>Calinski-Harabasz</a:t>
            </a:r>
            <a:r>
              <a:rPr lang="en-US" dirty="0"/>
              <a:t>, dan </a:t>
            </a:r>
            <a:r>
              <a:rPr lang="en-US" dirty="0" err="1"/>
              <a:t>Indeks</a:t>
            </a:r>
            <a:r>
              <a:rPr lang="en-US" dirty="0"/>
              <a:t> Rand </a:t>
            </a:r>
            <a:r>
              <a:rPr lang="en-US" dirty="0" err="1"/>
              <a:t>antar</a:t>
            </a:r>
            <a:r>
              <a:rPr lang="en-US" dirty="0"/>
              <a:t> bootstrap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Interpretasi</a:t>
            </a:r>
            <a:r>
              <a:rPr lang="en-US" dirty="0"/>
              <a:t>: Model </a:t>
            </a:r>
            <a:r>
              <a:rPr lang="en-US" dirty="0" err="1"/>
              <a:t>terbaik</a:t>
            </a:r>
            <a:r>
              <a:rPr lang="en-US" dirty="0"/>
              <a:t> dan </a:t>
            </a:r>
            <a:r>
              <a:rPr lang="en-US" dirty="0" err="1"/>
              <a:t>pengelompokan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71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4200-1CEA-FF69-F99C-76FB4708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ED9937B-079F-A111-6266-03E724FA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634283"/>
          </a:xfrm>
        </p:spPr>
        <p:txBody>
          <a:bodyPr rtlCol="0"/>
          <a:lstStyle/>
          <a:p>
            <a:pPr rtl="0"/>
            <a:r>
              <a:rPr lang="en-US" dirty="0" err="1"/>
              <a:t>Ekspektasi</a:t>
            </a:r>
            <a:r>
              <a:rPr lang="en-US" dirty="0"/>
              <a:t> Hasil</a:t>
            </a:r>
            <a:endParaRPr lang="id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554E8-E0FD-6644-0BC9-3A53A511CA65}"/>
              </a:ext>
            </a:extLst>
          </p:cNvPr>
          <p:cNvSpPr txBox="1"/>
          <p:nvPr/>
        </p:nvSpPr>
        <p:spPr>
          <a:xfrm>
            <a:off x="1295400" y="1274323"/>
            <a:ext cx="9601200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 </a:t>
            </a:r>
            <a:r>
              <a:rPr lang="en-US" dirty="0" err="1"/>
              <a:t>pengelompokan</a:t>
            </a:r>
            <a:r>
              <a:rPr lang="en-US" dirty="0"/>
              <a:t>/klastering </a:t>
            </a:r>
            <a:r>
              <a:rPr lang="en-US" dirty="0" err="1"/>
              <a:t>terbaik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Kelompok-kelompok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di Stamet </a:t>
            </a:r>
            <a:r>
              <a:rPr lang="en-US" dirty="0" err="1"/>
              <a:t>Serang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prakiraan</a:t>
            </a:r>
            <a:r>
              <a:rPr lang="en-US" dirty="0"/>
              <a:t> </a:t>
            </a:r>
            <a:r>
              <a:rPr lang="en-US" dirty="0" err="1"/>
              <a:t>iklim</a:t>
            </a:r>
            <a:r>
              <a:rPr lang="en-US" dirty="0"/>
              <a:t> analog </a:t>
            </a:r>
            <a:r>
              <a:rPr lang="en-US" dirty="0" err="1"/>
              <a:t>sederhana</a:t>
            </a:r>
            <a:r>
              <a:rPr lang="en-US" dirty="0"/>
              <a:t> untuk Stamet </a:t>
            </a:r>
            <a:r>
              <a:rPr lang="en-US" dirty="0" err="1"/>
              <a:t>Serang</a:t>
            </a:r>
            <a:r>
              <a:rPr lang="en-US" dirty="0"/>
              <a:t>.</a:t>
            </a:r>
          </a:p>
        </p:txBody>
      </p:sp>
      <p:sp>
        <p:nvSpPr>
          <p:cNvPr id="3" name="Judul 1">
            <a:extLst>
              <a:ext uri="{FF2B5EF4-FFF2-40B4-BE49-F238E27FC236}">
                <a16:creationId xmlns:a16="http://schemas.microsoft.com/office/drawing/2014/main" id="{30B70406-4DEA-553A-7FB0-2FCD522F57B7}"/>
              </a:ext>
            </a:extLst>
          </p:cNvPr>
          <p:cNvSpPr txBox="1">
            <a:spLocks/>
          </p:cNvSpPr>
          <p:nvPr/>
        </p:nvSpPr>
        <p:spPr>
          <a:xfrm>
            <a:off x="1295400" y="2709392"/>
            <a:ext cx="9601200" cy="6342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Penyajian</a:t>
            </a:r>
            <a:r>
              <a:rPr lang="en-US" dirty="0"/>
              <a:t> (</a:t>
            </a:r>
            <a:r>
              <a:rPr lang="en-US" dirty="0" err="1"/>
              <a:t>dari</a:t>
            </a:r>
            <a:r>
              <a:rPr lang="en-US" dirty="0"/>
              <a:t> Reza)</a:t>
            </a:r>
            <a:endParaRPr lang="id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01273-220D-1158-64AC-6DB7ED4E2E2C}"/>
              </a:ext>
            </a:extLst>
          </p:cNvPr>
          <p:cNvSpPr txBox="1"/>
          <p:nvPr/>
        </p:nvSpPr>
        <p:spPr>
          <a:xfrm>
            <a:off x="1295400" y="3514326"/>
            <a:ext cx="96012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tesis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Koding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yang </a:t>
            </a:r>
            <a:r>
              <a:rPr lang="en-US" dirty="0" err="1"/>
              <a:t>diolah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Powerpoint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Hasil</a:t>
            </a:r>
          </a:p>
        </p:txBody>
      </p:sp>
    </p:spTree>
    <p:extLst>
      <p:ext uri="{BB962C8B-B14F-4D97-AF65-F5344CB8AC3E}">
        <p14:creationId xmlns:p14="http://schemas.microsoft.com/office/powerpoint/2010/main" val="210220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4F95E-3FC7-4349-2E43-DA1E560D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1E9FA9F-0C46-ACC1-4390-E00865A58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634283"/>
          </a:xfrm>
        </p:spPr>
        <p:txBody>
          <a:bodyPr rtlCol="0"/>
          <a:lstStyle/>
          <a:p>
            <a:pPr rtl="0"/>
            <a:r>
              <a:rPr lang="en-US" dirty="0"/>
              <a:t>Usulan </a:t>
            </a:r>
            <a:r>
              <a:rPr lang="en-US" dirty="0" err="1"/>
              <a:t>Pembiayaan</a:t>
            </a:r>
            <a:endParaRPr lang="id-ID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1995DB-4931-EB33-AB3C-2CCBFC8C8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7857"/>
              </p:ext>
            </p:extLst>
          </p:nvPr>
        </p:nvGraphicFramePr>
        <p:xfrm>
          <a:off x="1295400" y="1138136"/>
          <a:ext cx="9019445" cy="5065451"/>
        </p:xfrm>
        <a:graphic>
          <a:graphicData uri="http://schemas.openxmlformats.org/drawingml/2006/table">
            <a:tbl>
              <a:tblPr/>
              <a:tblGrid>
                <a:gridCol w="2758065">
                  <a:extLst>
                    <a:ext uri="{9D8B030D-6E8A-4147-A177-3AD203B41FA5}">
                      <a16:colId xmlns:a16="http://schemas.microsoft.com/office/drawing/2014/main" val="497866945"/>
                    </a:ext>
                  </a:extLst>
                </a:gridCol>
                <a:gridCol w="4277843">
                  <a:extLst>
                    <a:ext uri="{9D8B030D-6E8A-4147-A177-3AD203B41FA5}">
                      <a16:colId xmlns:a16="http://schemas.microsoft.com/office/drawing/2014/main" val="3552434312"/>
                    </a:ext>
                  </a:extLst>
                </a:gridCol>
                <a:gridCol w="1076777">
                  <a:extLst>
                    <a:ext uri="{9D8B030D-6E8A-4147-A177-3AD203B41FA5}">
                      <a16:colId xmlns:a16="http://schemas.microsoft.com/office/drawing/2014/main" val="1822373946"/>
                    </a:ext>
                  </a:extLst>
                </a:gridCol>
                <a:gridCol w="906760">
                  <a:extLst>
                    <a:ext uri="{9D8B030D-6E8A-4147-A177-3AD203B41FA5}">
                      <a16:colId xmlns:a16="http://schemas.microsoft.com/office/drawing/2014/main" val="4185491115"/>
                    </a:ext>
                  </a:extLst>
                </a:gridCol>
              </a:tblGrid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Pekerjaan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Detail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Biaya (IDR)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Deadline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857184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1. Research Design &amp; Lit. Review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Penulisan Bab 1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1,500,000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Juli 2025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808660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Reviu literatur dan sintesis min. 5 paper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59552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Penulisan Bab 2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30521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Perumusan kerangka teoretis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124107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 Data Processing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Data cleaning, Z-score normalization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1,000,000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 </a:t>
                      </a:r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Juli 2025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580236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- 30-year matrix preparation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094694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3. Methodology Drafting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Perumusan Metodologi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1,000,000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Juli 2025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75338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Pembuatan alur kerja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399994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Penulisan Bab 3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740923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 Algorithm Implementation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Coding/tuning 3 model (K-Means, DBSCAN, Agglomerative)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2,000,000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Akan diinfokan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16736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Bootstrap resampling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252588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5. Analysis &amp; Validation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Silhouette/DB/CH metrics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1,000,000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Akan diinfokan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2080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Stability tests (Adjusted Rand Index)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468326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6. Results &amp; Visualization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Regime fingerprint plots (heat-calendars)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1,500,000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Akan diinfokan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08660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PCA biplots, decadal trends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92884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Penulisan Bab 4 dan Bab 5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Akan diinfokan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365188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7. Full Report Compilation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Finalisasi dokumen tesis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1,000,000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292594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Revisi dokumen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Akan diinfokan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095609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8. Technical Deliverables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Jupyter notebook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1,000,000 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484353"/>
                  </a:ext>
                </a:extLst>
              </a:tr>
              <a:tr h="165054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Clean dataset + metadata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Akan diinfokan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21176"/>
                  </a:ext>
                </a:extLst>
              </a:tr>
              <a:tr h="171931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14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 Slide presentasi proposal dan sidang akhir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323557"/>
                  </a:ext>
                </a:extLst>
              </a:tr>
              <a:tr h="171931"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877" marR="6877" marT="687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id-ID" sz="14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10,000,000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877" marR="6877" marT="68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8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99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isi Wajik 16x9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32_TF03031015.potx" id="{B6649B3F-4F7E-44C2-9E82-A1E843A1B10D}" vid="{B739E8B1-5D1F-4DEA-8C51-E60D3DD62BBD}"/>
    </a:ext>
  </a:extLst>
</a:theme>
</file>

<file path=ppt/theme/theme2.xml><?xml version="1.0" encoding="utf-8"?>
<a:theme xmlns:a="http://schemas.openxmlformats.org/drawingml/2006/main" name="Tema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Presentasi kisi wajik bisnis (layar lebar)</Template>
  <TotalTime>81</TotalTime>
  <Words>436</Words>
  <Application>Microsoft Office PowerPoint</Application>
  <PresentationFormat>Widescreen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Narrow</vt:lpstr>
      <vt:lpstr>Arial</vt:lpstr>
      <vt:lpstr>Kisi Wajik 16x9</vt:lpstr>
      <vt:lpstr>Proposal Pembiayaan Penelitian</vt:lpstr>
      <vt:lpstr>Outline</vt:lpstr>
      <vt:lpstr>Pendahuluan</vt:lpstr>
      <vt:lpstr>Metodologi dan Referensi Utama</vt:lpstr>
      <vt:lpstr>Ekspektasi Hasil</vt:lpstr>
      <vt:lpstr>Usulan Pembiayaan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Bayu Perdana</dc:creator>
  <cp:lastModifiedBy>Reza Bayu Perdana</cp:lastModifiedBy>
  <cp:revision>2</cp:revision>
  <dcterms:created xsi:type="dcterms:W3CDTF">2025-06-08T13:19:07Z</dcterms:created>
  <dcterms:modified xsi:type="dcterms:W3CDTF">2025-06-08T23:52:07Z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