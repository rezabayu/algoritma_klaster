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8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8" r:id="rId22"/>
    <p:sldId id="273" r:id="rId23"/>
    <p:sldId id="274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16" units="cm"/>
          <inkml:channel name="Y" type="integer" max="1152" units="cm"/>
          <inkml:channel name="T" type="integer" max="2.14748E9" units="dev"/>
        </inkml:traceFormat>
        <inkml:channelProperties>
          <inkml:channelProperty channel="X" name="resolution" value="142.91263" units="1/cm"/>
          <inkml:channelProperty channel="Y" name="resolution" value="66.58959" units="1/cm"/>
          <inkml:channelProperty channel="T" name="resolution" value="1" units="1/dev"/>
        </inkml:channelProperties>
      </inkml:inkSource>
      <inkml:timestamp xml:id="ts0" timeString="2025-10-25T07:43:40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15279 12496 0,'146'322'141,"-146"-264"-141,147-58 31,58 0-15,-59 0-1,-88 0-15,1-29 16,58-118 0,0 30-1,-29 0 1,-88 30-16,59-1 16,-59-29-1,0 87 1</inkml:trace>
  <inkml:trace contextRef="#ctx0" brushRef="#br0" timeOffset="633.01">15689 12847 0,'0'234'31,"0"0"16,0 176-15,0-352-32,0 30 15,0 29 1,0-58-16,0-1 15,0 1 1</inkml:trace>
  <inkml:trace contextRef="#ctx0" brushRef="#br0" timeOffset="1139.01">16450 13432 0,'175'0'78,"206"59"-62,29-30 0,-176 0-1,-176-29 1</inkml:trace>
  <inkml:trace contextRef="#ctx0" brushRef="#br0" timeOffset="1805">16684 13139 0,'88'0'79,"234"0"-48,-88 0-31,146 0 15,-204 0 1,-147 0-16,30 0 16,-1 0-1</inkml:trace>
  <inkml:trace contextRef="#ctx0" brushRef="#br0" timeOffset="2324.02">18821 13198 0,'-176'0'16,"352"0"-16,-498 0 16,234 58-16,59 30 15,-147 0 1,59 29-1,117-29-15,-59 29 16,59-59 0,0 30-1,30-88 48,28 0-48,118-117 1,29-29-16</inkml:trace>
  <inkml:trace contextRef="#ctx0" brushRef="#br0" timeOffset="2647">18879 13374 0,'0'29'47,"59"146"-16,-59-87-15,0 29-1,0 29 1,0-87 0,0 0-16,58-59 62</inkml:trace>
  <inkml:trace contextRef="#ctx0" brushRef="#br0" timeOffset="3272">19523 13812 0,'234'0'110,"235"0"-95,-59 0 1,-147 0 0,-204 0-1</inkml:trace>
  <inkml:trace contextRef="#ctx0" brushRef="#br0" timeOffset="3916">19992 13461 0,'0'0'16,"0"59"-16,0-1 15,-59 30 1,-58 29 15,58 0-15,59 0-1,0 117 1,0-175-16,0 58 31,0-59-15,0 1-16</inkml:trace>
  <inkml:trace contextRef="#ctx0" brushRef="#br0" timeOffset="4555.01">20870 13227 0,'0'0'15,"0"59"-15,0 87 16,0 59 0,0 0-1,0-88 1,0-59-16,0 1 15,0-1 1,58-145 93</inkml:trace>
  <inkml:trace contextRef="#ctx0" brushRef="#br0" timeOffset="5054.04">22158 13959 0,'-59'-88'0,"118"176"0,-1 117 16,-58-147 15,0 1-15,-29-1-1,-30-58 1,-28 0 0,-177 0-1,1 0 1,175-29 0,29 29-1,59-59 1,-58 59-1</inkml:trace>
  <inkml:trace contextRef="#ctx0" brushRef="#br0" timeOffset="5605">22685 14222 0,'204'88'31,"-57"58"-15,58-58 15,0 88-15,-59-89-1,-88-28-15,30-1 16,-58 1 0,57-1-16,-28-58 15,-1 59-15</inkml:trace>
  <inkml:trace contextRef="#ctx0" brushRef="#br0" timeOffset="6211.08">23563 14485 0,'0'0'0,"-30"59"0,-57 87 15,-30 1 16,29-1-15,-88-58 0,-146 58-1,-88 59 1,293-117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A5F2-57C6-95C7-427C-A62567128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7EF51-C886-78F9-42F6-1B06CC52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2A7C-CD36-C7E5-899A-1EDD7776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F82D0-1DAC-9FD1-A081-0580F4F7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5FB9E-AA7A-FC99-94EF-6D0E82BC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384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53B3-20E0-B0FC-D351-BC12109D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8653-0F30-1CA6-BCF3-159F90103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F9A82-3776-00B8-EC56-94A14E62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65671-8325-4FD1-A956-D0512509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2CB56-DD49-8B66-EC10-2356BAE1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672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B877-48CF-0CA8-D8E0-A3292AE3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AB16F-4B40-8C4A-09D9-C1303C04F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9F8BF-D118-10EF-D2EF-7B9A4912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06732-4572-2BEE-195B-CD883699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063D-4D27-A4E9-5D41-4EA313F3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389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B673-9C6A-941C-59D4-764F9894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D9E8E-2C48-42A4-9004-D4DB360E0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6C4FE-F5D0-C120-F2E5-F8F079799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51430-7BB5-0547-C710-C3EFD984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8104A-4392-8D26-573D-9F1A9231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1694B-7BF7-1C36-2965-3BCF945D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45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83E0-2ADE-47E6-D99C-135C439E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EAA49-DE10-79DA-55D1-B93E980B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E296-1402-403B-3D63-6B58B121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D0FD1-F800-25DF-B77E-FE66B63E7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5D2DC-77B5-7BD2-0D81-8FAEE9A35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096D7-EE27-91EA-0748-5CE0CC1F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6401-07C3-D275-DEF0-C125A399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5A863-F2BE-3E5F-6009-CECB9328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115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3706-75CB-8312-9F9F-708F6283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9806A-94A0-11E4-5D6E-C04B7ADD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65EA3-898B-617A-F20C-80EF5195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C268C-D8E5-9BED-DDB4-0DC00C27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79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86D96-8E1B-0CFE-8810-5596E5D7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AD4CD-9506-9605-4C6B-715C512F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4C713-DC1A-16AE-AB6D-D933A604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091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14C1-14F0-4FBA-0308-0FBA9614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055F-10E6-2F26-1A06-A15979FA6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C0196-2CA5-4DB4-E246-748CBEE33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74A8B-B8CB-8317-02BB-4DA31DA4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F8E7F-08E0-93C3-D79C-49E587E4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9246B-FC1C-F685-4BBC-AA4E7A02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472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CCBC-A2F6-9819-5D1E-E8C677B8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A1E4D-8D28-E386-265A-526425D84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14E5A-A8DE-5E22-0D95-BEBA5BCD1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40269-5D84-B9E9-DEB2-6ABCE56C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BECA4-3B97-444F-616C-74F7F01C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61B2E-4F73-60B1-AAF9-A8B961A0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183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CD01-B8C6-7625-DC85-071937C5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091CC-C0CD-E081-42AA-8DC6A1A68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9299-B7F5-9C27-302E-EBF474B1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FCF33-CC3E-EA8B-914B-FCA420E5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05E89-818F-6F91-37F6-F77AF6D8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528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5791B-7C12-B578-EC7C-3443B5840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68FA0-885E-2677-3BFA-247F49F82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E35D-46BF-1619-1FD0-73484D6E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FDAE-6419-3DA0-C1DE-39CBA270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969F7-1BA7-8908-3CCF-621DC02D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97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5F57D6-781C-F27C-40F1-51B3C837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75A3-4303-8A58-E240-1B766259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3EA74-5EC8-1B44-7CB5-3D2260A26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CC39A-D111-4E8C-9829-7C3E077B408B}" type="datetimeFigureOut">
              <a:rPr lang="en-ID" smtClean="0"/>
              <a:t>25/10/2025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6951D-E899-31A5-E109-27D9F7FCF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9CD1-7530-A37A-193D-DF617DC1A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ACCBB-9AFE-4292-87DD-B03C23CAB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581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1DA8-6BA1-C90F-A7D0-94CAB09FC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 and trick</a:t>
            </a:r>
            <a:br>
              <a:rPr lang="en-US" dirty="0"/>
            </a:br>
            <a:r>
              <a:rPr lang="en-US" dirty="0" err="1"/>
              <a:t>Penyusunan</a:t>
            </a:r>
            <a:r>
              <a:rPr lang="en-US" dirty="0"/>
              <a:t> Proposal </a:t>
            </a:r>
            <a:r>
              <a:rPr lang="en-US" dirty="0" err="1"/>
              <a:t>Penelitian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53C0A-E66B-D445-DE9C-8669B73D0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 STUDI TEKNIK INFORMATIKA S-2</a:t>
            </a:r>
          </a:p>
          <a:p>
            <a:r>
              <a:rPr lang="en-US" dirty="0"/>
              <a:t>PROGRAM PASCASARJANA</a:t>
            </a:r>
          </a:p>
          <a:p>
            <a:r>
              <a:rPr lang="en-US" dirty="0"/>
              <a:t>UNIVERSITAS PEMULANG</a:t>
            </a:r>
          </a:p>
          <a:p>
            <a:r>
              <a:rPr lang="en-US" dirty="0"/>
              <a:t>2025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020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55BF-7981-85FE-A7E8-271A79E6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Pengantar</a:t>
            </a:r>
            <a:endParaRPr lang="en-ID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B5A8B4-82E2-3F01-56DA-9F9274CD4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449" y="1690688"/>
            <a:ext cx="10657379" cy="449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menjadi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tolok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ukur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kesiapan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mahasiswa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melakukan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penelitian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ilmiah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Menunjukkan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kemampuan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berpikir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sistematis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ilmiah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Konseptual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D" b="1" dirty="0" err="1"/>
              <a:t>Konsep</a:t>
            </a:r>
            <a:r>
              <a:rPr lang="en-ID" b="1" dirty="0"/>
              <a:t> proposal </a:t>
            </a:r>
            <a:r>
              <a:rPr lang="en-ID" b="1" dirty="0" err="1"/>
              <a:t>merupakan</a:t>
            </a:r>
            <a:r>
              <a:rPr lang="en-ID" b="1" dirty="0"/>
              <a:t> blueprint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cetak</a:t>
            </a:r>
            <a:r>
              <a:rPr lang="en-ID" b="1" dirty="0"/>
              <a:t> </a:t>
            </a:r>
            <a:r>
              <a:rPr lang="en-ID" b="1" dirty="0" err="1"/>
              <a:t>biru</a:t>
            </a:r>
            <a:r>
              <a:rPr lang="en-ID" dirty="0"/>
              <a:t> yang </a:t>
            </a:r>
            <a:r>
              <a:rPr lang="en-ID" dirty="0" err="1"/>
              <a:t>merancang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dan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D" b="1" dirty="0" err="1"/>
              <a:t>Sebagai</a:t>
            </a:r>
            <a:r>
              <a:rPr lang="en-ID" b="1" dirty="0"/>
              <a:t> </a:t>
            </a:r>
            <a:r>
              <a:rPr lang="en-ID" b="1" dirty="0" err="1"/>
              <a:t>dokumen</a:t>
            </a:r>
            <a:r>
              <a:rPr lang="en-ID" b="1" dirty="0"/>
              <a:t> </a:t>
            </a:r>
            <a:r>
              <a:rPr lang="en-ID" b="1" dirty="0" err="1"/>
              <a:t>persuasif</a:t>
            </a:r>
            <a:r>
              <a:rPr lang="en-ID" dirty="0"/>
              <a:t> yang </a:t>
            </a:r>
            <a:r>
              <a:rPr lang="en-ID" dirty="0" err="1"/>
              <a:t>meyakinkan</a:t>
            </a:r>
            <a:r>
              <a:rPr lang="en-ID" dirty="0"/>
              <a:t> </a:t>
            </a:r>
            <a:r>
              <a:rPr lang="en-ID" dirty="0" err="1"/>
              <a:t>pembaca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, </a:t>
            </a:r>
            <a:r>
              <a:rPr lang="en-ID" dirty="0" err="1"/>
              <a:t>kelayakan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, dan </a:t>
            </a:r>
            <a:r>
              <a:rPr lang="en-ID" dirty="0" err="1"/>
              <a:t>signifikansi</a:t>
            </a:r>
            <a:r>
              <a:rPr lang="en-ID" dirty="0"/>
              <a:t> </a:t>
            </a:r>
            <a:r>
              <a:rPr lang="en-ID" dirty="0" err="1"/>
              <a:t>kontribusinya</a:t>
            </a:r>
            <a:r>
              <a:rPr lang="en-ID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D" b="1" dirty="0"/>
              <a:t>Berfungsi </a:t>
            </a:r>
            <a:r>
              <a:rPr lang="en-ID" b="1" dirty="0" err="1"/>
              <a:t>sebagai</a:t>
            </a:r>
            <a:r>
              <a:rPr lang="en-ID" b="1" dirty="0"/>
              <a:t> </a:t>
            </a:r>
            <a:r>
              <a:rPr lang="en-ID" b="1" dirty="0" err="1"/>
              <a:t>peta</a:t>
            </a:r>
            <a:r>
              <a:rPr lang="en-ID" b="1" dirty="0"/>
              <a:t> </a:t>
            </a:r>
            <a:r>
              <a:rPr lang="en-ID" b="1" dirty="0" err="1"/>
              <a:t>jalan</a:t>
            </a:r>
            <a:r>
              <a:rPr lang="en-ID" dirty="0"/>
              <a:t> yang </a:t>
            </a:r>
            <a:r>
              <a:rPr lang="en-ID" dirty="0" err="1"/>
              <a:t>mengarahkan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proses </a:t>
            </a:r>
            <a:r>
              <a:rPr lang="en-ID" dirty="0" err="1"/>
              <a:t>penelitian</a:t>
            </a:r>
            <a:r>
              <a:rPr lang="en-ID" dirty="0"/>
              <a:t> agar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, </a:t>
            </a:r>
            <a:r>
              <a:rPr lang="en-ID" dirty="0" err="1"/>
              <a:t>terencana</a:t>
            </a:r>
            <a:r>
              <a:rPr lang="en-ID" dirty="0"/>
              <a:t>, dan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ditetapkan</a:t>
            </a:r>
            <a:r>
              <a:rPr lang="en-ID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400" dirty="0" err="1"/>
              <a:t>Memudahkan</a:t>
            </a:r>
            <a:r>
              <a:rPr lang="en-ID" sz="2400" dirty="0"/>
              <a:t> </a:t>
            </a:r>
            <a:r>
              <a:rPr lang="en-ID" sz="2400" dirty="0" err="1"/>
              <a:t>dosen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pembimbingan</a:t>
            </a:r>
            <a:endParaRPr lang="en-ID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91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9865-7475-5BEB-F4DE-A28D49C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Proses dan </a:t>
            </a:r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Pengajuan</a:t>
            </a:r>
            <a:r>
              <a:rPr lang="en-US" dirty="0"/>
              <a:t>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A008-FDCA-C788-BC16-831AB05F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mengajukan</a:t>
            </a:r>
            <a:r>
              <a:rPr lang="en-ID" dirty="0"/>
              <a:t> </a:t>
            </a:r>
            <a:r>
              <a:rPr lang="en-ID" dirty="0" err="1"/>
              <a:t>judul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Ketua</a:t>
            </a:r>
            <a:r>
              <a:rPr lang="en-ID" dirty="0"/>
              <a:t> Program Studi (Ka Prodi). </a:t>
            </a:r>
          </a:p>
          <a:p>
            <a:r>
              <a:rPr lang="en-ID" dirty="0"/>
              <a:t>Ka Prodi </a:t>
            </a:r>
            <a:r>
              <a:rPr lang="en-ID" dirty="0" err="1"/>
              <a:t>memeriksa</a:t>
            </a:r>
            <a:r>
              <a:rPr lang="en-ID" dirty="0"/>
              <a:t> dan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disposisi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dosen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review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arahan</a:t>
            </a:r>
            <a:r>
              <a:rPr lang="en-ID" dirty="0"/>
              <a:t>.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arahan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dosen</a:t>
            </a:r>
            <a:r>
              <a:rPr lang="en-ID" dirty="0"/>
              <a:t>,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melaporkan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revisi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Ka Prodi.</a:t>
            </a:r>
          </a:p>
          <a:p>
            <a:r>
              <a:rPr lang="en-ID" dirty="0" err="1"/>
              <a:t>Apabila</a:t>
            </a:r>
            <a:r>
              <a:rPr lang="en-ID" dirty="0"/>
              <a:t> Ka Prodi </a:t>
            </a:r>
            <a:r>
              <a:rPr lang="en-ID" dirty="0" err="1"/>
              <a:t>menyetujui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melanjutkan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proposal </a:t>
            </a:r>
            <a:r>
              <a:rPr lang="en-ID" dirty="0" err="1"/>
              <a:t>penelitian</a:t>
            </a:r>
            <a:r>
              <a:rPr lang="en-ID" dirty="0"/>
              <a:t>. </a:t>
            </a:r>
          </a:p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penulisan</a:t>
            </a:r>
            <a:r>
              <a:rPr lang="en-ID" dirty="0"/>
              <a:t> proposal </a:t>
            </a:r>
            <a:r>
              <a:rPr lang="en-ID" dirty="0" err="1"/>
              <a:t>selesai</a:t>
            </a:r>
            <a:r>
              <a:rPr lang="en-ID" dirty="0"/>
              <a:t> dan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panduan</a:t>
            </a:r>
            <a:r>
              <a:rPr lang="en-ID" dirty="0"/>
              <a:t>,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mendaftarkan</a:t>
            </a:r>
            <a:r>
              <a:rPr lang="en-ID" dirty="0"/>
              <a:t> </a:t>
            </a:r>
            <a:r>
              <a:rPr lang="en-ID" dirty="0" err="1"/>
              <a:t>proposalnya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sekretariat</a:t>
            </a:r>
            <a:r>
              <a:rPr lang="en-ID" dirty="0"/>
              <a:t>.</a:t>
            </a:r>
          </a:p>
          <a:p>
            <a:r>
              <a:rPr lang="en-ID" dirty="0"/>
              <a:t>Dari </a:t>
            </a:r>
            <a:r>
              <a:rPr lang="en-ID" dirty="0" err="1"/>
              <a:t>sekretariat</a:t>
            </a:r>
            <a:r>
              <a:rPr lang="en-ID" dirty="0"/>
              <a:t>, </a:t>
            </a:r>
            <a:r>
              <a:rPr lang="en-ID" dirty="0" err="1"/>
              <a:t>selanjutnya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ujian</a:t>
            </a:r>
            <a:r>
              <a:rPr lang="en-ID" dirty="0"/>
              <a:t> proposal.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327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C99B4-5A97-D309-8E3E-72E1CD5DA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7" r="5585" b="7198"/>
          <a:stretch>
            <a:fillRect/>
          </a:stretch>
        </p:blipFill>
        <p:spPr>
          <a:xfrm>
            <a:off x="3962400" y="128133"/>
            <a:ext cx="4267199" cy="66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3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5D27-CEC4-5C63-4F2C-EEE5F038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Proposal (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 BAB)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0436-331C-73E0-D520-6A9DD5E60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7829" y="1690688"/>
            <a:ext cx="3233057" cy="22934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/>
              <a:t>BAB II – LANDASAN TEORI DAN KERANGKA PEMIKIRAN</a:t>
            </a:r>
            <a:endParaRPr lang="en-ID" dirty="0"/>
          </a:p>
          <a:p>
            <a:r>
              <a:rPr lang="en-ID" dirty="0"/>
              <a:t>2.1 </a:t>
            </a:r>
            <a:r>
              <a:rPr lang="en-ID" dirty="0" err="1"/>
              <a:t>Tinjauan</a:t>
            </a:r>
            <a:r>
              <a:rPr lang="en-ID" dirty="0"/>
              <a:t> Pustaka</a:t>
            </a:r>
          </a:p>
          <a:p>
            <a:r>
              <a:rPr lang="en-ID" dirty="0"/>
              <a:t>2.2 </a:t>
            </a:r>
            <a:r>
              <a:rPr lang="en-ID" dirty="0" err="1"/>
              <a:t>Landasan</a:t>
            </a:r>
            <a:r>
              <a:rPr lang="en-ID" dirty="0"/>
              <a:t> Teori</a:t>
            </a:r>
          </a:p>
          <a:p>
            <a:r>
              <a:rPr lang="en-ID" dirty="0"/>
              <a:t>2.3 </a:t>
            </a:r>
            <a:r>
              <a:rPr lang="en-ID" dirty="0" err="1"/>
              <a:t>Kerangka</a:t>
            </a:r>
            <a:r>
              <a:rPr lang="en-ID" dirty="0"/>
              <a:t> </a:t>
            </a:r>
            <a:r>
              <a:rPr lang="en-ID" dirty="0" err="1"/>
              <a:t>Pemikiran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AA0D3-AD0E-4973-FE2A-DD61910ADC75}"/>
              </a:ext>
            </a:extLst>
          </p:cNvPr>
          <p:cNvSpPr txBox="1"/>
          <p:nvPr/>
        </p:nvSpPr>
        <p:spPr>
          <a:xfrm>
            <a:off x="598713" y="1690688"/>
            <a:ext cx="37991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BAB I – PENDAHULUAN</a:t>
            </a:r>
            <a:endParaRPr lang="en-ID" dirty="0"/>
          </a:p>
          <a:p>
            <a:r>
              <a:rPr lang="en-ID" dirty="0"/>
              <a:t>1.1 Latar </a:t>
            </a:r>
            <a:r>
              <a:rPr lang="en-ID" dirty="0" err="1"/>
              <a:t>Belakang</a:t>
            </a:r>
            <a:endParaRPr lang="en-ID" dirty="0"/>
          </a:p>
          <a:p>
            <a:r>
              <a:rPr lang="en-ID" dirty="0"/>
              <a:t>1.2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  <a:p>
            <a:pPr lvl="1"/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  <a:p>
            <a:pPr lvl="1"/>
            <a:r>
              <a:rPr lang="en-ID" dirty="0"/>
              <a:t>Ruang </a:t>
            </a:r>
            <a:r>
              <a:rPr lang="en-ID" dirty="0" err="1"/>
              <a:t>Lingkup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  <a:p>
            <a:r>
              <a:rPr lang="en-ID" dirty="0"/>
              <a:t>1.3 </a:t>
            </a:r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  <a:p>
            <a:r>
              <a:rPr lang="en-ID" dirty="0"/>
              <a:t>1.4 Tujuan dan Manfaat </a:t>
            </a:r>
            <a:r>
              <a:rPr lang="en-ID" dirty="0" err="1"/>
              <a:t>Penelitian</a:t>
            </a:r>
            <a:endParaRPr lang="en-ID" dirty="0"/>
          </a:p>
          <a:p>
            <a:r>
              <a:rPr lang="en-ID" dirty="0"/>
              <a:t>1.5 </a:t>
            </a:r>
            <a:r>
              <a:rPr lang="en-ID" dirty="0" err="1"/>
              <a:t>Sistematika</a:t>
            </a:r>
            <a:r>
              <a:rPr lang="en-ID" dirty="0"/>
              <a:t> </a:t>
            </a:r>
            <a:r>
              <a:rPr lang="en-ID" dirty="0" err="1"/>
              <a:t>Penulisan</a:t>
            </a:r>
            <a:endParaRPr lang="en-ID" dirty="0"/>
          </a:p>
          <a:p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383E3-4507-6E04-B702-431C76151C55}"/>
              </a:ext>
            </a:extLst>
          </p:cNvPr>
          <p:cNvSpPr txBox="1"/>
          <p:nvPr/>
        </p:nvSpPr>
        <p:spPr>
          <a:xfrm>
            <a:off x="8196945" y="1777773"/>
            <a:ext cx="2362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BAB III – METODOLOGI PENELITIAN</a:t>
            </a:r>
            <a:endParaRPr lang="en-ID" dirty="0"/>
          </a:p>
          <a:p>
            <a:r>
              <a:rPr lang="en-ID" dirty="0"/>
              <a:t>3.1 Analisa </a:t>
            </a:r>
            <a:r>
              <a:rPr lang="en-ID" dirty="0" err="1"/>
              <a:t>Kebutuhan</a:t>
            </a:r>
            <a:endParaRPr lang="en-ID" dirty="0"/>
          </a:p>
          <a:p>
            <a:r>
              <a:rPr lang="en-ID" dirty="0"/>
              <a:t>3.2 </a:t>
            </a:r>
            <a:r>
              <a:rPr lang="en-ID" dirty="0" err="1"/>
              <a:t>Perancangan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  <a:p>
            <a:r>
              <a:rPr lang="en-ID" dirty="0"/>
              <a:t>3.3 Teknik </a:t>
            </a:r>
            <a:r>
              <a:rPr lang="en-ID" dirty="0" err="1"/>
              <a:t>Analisis</a:t>
            </a:r>
            <a:endParaRPr lang="en-ID" dirty="0"/>
          </a:p>
          <a:p>
            <a:pPr lvl="1"/>
            <a:r>
              <a:rPr lang="en-ID" dirty="0"/>
              <a:t>Teknik </a:t>
            </a:r>
            <a:r>
              <a:rPr lang="en-ID" dirty="0" err="1"/>
              <a:t>Analisis</a:t>
            </a:r>
            <a:endParaRPr lang="en-ID" dirty="0"/>
          </a:p>
          <a:p>
            <a:pPr lvl="1"/>
            <a:r>
              <a:rPr lang="en-ID" dirty="0" err="1"/>
              <a:t>Evaluasi</a:t>
            </a:r>
            <a:r>
              <a:rPr lang="en-ID" dirty="0"/>
              <a:t> Model</a:t>
            </a:r>
          </a:p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ABD12-2872-CECD-8E6B-067254660E37}"/>
              </a:ext>
            </a:extLst>
          </p:cNvPr>
          <p:cNvSpPr txBox="1"/>
          <p:nvPr/>
        </p:nvSpPr>
        <p:spPr>
          <a:xfrm>
            <a:off x="7837714" y="4463143"/>
            <a:ext cx="378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DAFTAR PUSTAKA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3518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5A6B-02C6-1084-3B18-0FFE36FC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421B-7F1D-F81D-F13D-7A8AC83B1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Abstrak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Indonesia dan Bahasa </a:t>
            </a:r>
            <a:r>
              <a:rPr lang="en-US" dirty="0" err="1"/>
              <a:t>Inggris</a:t>
            </a:r>
            <a:endParaRPr lang="en-US" dirty="0"/>
          </a:p>
          <a:p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paragraph :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, data dan </a:t>
            </a:r>
            <a:r>
              <a:rPr lang="en-US" dirty="0" err="1"/>
              <a:t>sumberdata</a:t>
            </a:r>
            <a:r>
              <a:rPr lang="en-US" dirty="0"/>
              <a:t> (dataset),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 data,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data, </a:t>
            </a:r>
            <a:r>
              <a:rPr lang="en-US" dirty="0" err="1"/>
              <a:t>evaluasi</a:t>
            </a:r>
            <a:r>
              <a:rPr lang="en-US" dirty="0"/>
              <a:t> model/</a:t>
            </a:r>
            <a:r>
              <a:rPr lang="en-US" dirty="0" err="1"/>
              <a:t>pengujian</a:t>
            </a:r>
            <a:r>
              <a:rPr lang="en-US" dirty="0"/>
              <a:t> model.</a:t>
            </a:r>
          </a:p>
          <a:p>
            <a:r>
              <a:rPr lang="en-US" dirty="0" err="1"/>
              <a:t>Ditulis</a:t>
            </a:r>
            <a:r>
              <a:rPr lang="en-US" dirty="0"/>
              <a:t> 1 </a:t>
            </a:r>
            <a:r>
              <a:rPr lang="en-US" dirty="0" err="1"/>
              <a:t>spasi</a:t>
            </a:r>
            <a:endParaRPr lang="en-US" dirty="0"/>
          </a:p>
          <a:p>
            <a:r>
              <a:rPr lang="en-US" dirty="0" err="1"/>
              <a:t>Jumlah</a:t>
            </a:r>
            <a:r>
              <a:rPr lang="en-US" dirty="0"/>
              <a:t> kata </a:t>
            </a:r>
            <a:r>
              <a:rPr lang="en-US" dirty="0" err="1"/>
              <a:t>sebanyak</a:t>
            </a:r>
            <a:r>
              <a:rPr lang="en-US" dirty="0"/>
              <a:t> 150 – 200 kata</a:t>
            </a:r>
          </a:p>
          <a:p>
            <a:r>
              <a:rPr lang="en-US" dirty="0"/>
              <a:t>Kata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3 – 5 (</a:t>
            </a:r>
            <a:r>
              <a:rPr lang="en-US" dirty="0" err="1"/>
              <a:t>membuat</a:t>
            </a:r>
            <a:r>
              <a:rPr lang="en-US" dirty="0"/>
              <a:t> kata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atau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114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1CF9-AD2B-6F2F-1111-E303B580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Latar </a:t>
            </a:r>
            <a:r>
              <a:rPr lang="en-US" dirty="0" err="1"/>
              <a:t>Belakang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0869F-A73B-24B3-1453-F3AD3AD0D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 → </a:t>
            </a:r>
            <a:r>
              <a:rPr lang="en-ID" dirty="0" err="1"/>
              <a:t>khusus</a:t>
            </a:r>
            <a:r>
              <a:rPr lang="en-ID" dirty="0"/>
              <a:t> → </a:t>
            </a:r>
            <a:r>
              <a:rPr lang="en-ID" dirty="0" err="1"/>
              <a:t>solusi</a:t>
            </a:r>
            <a:r>
              <a:rPr lang="en-ID" dirty="0"/>
              <a:t> yang </a:t>
            </a:r>
            <a:r>
              <a:rPr lang="en-ID" dirty="0" err="1"/>
              <a:t>ditawarkan</a:t>
            </a:r>
            <a:r>
              <a:rPr lang="en-ID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Tuliskan</a:t>
            </a:r>
            <a:r>
              <a:rPr lang="en-ID" dirty="0"/>
              <a:t> </a:t>
            </a:r>
            <a:r>
              <a:rPr lang="en-ID" dirty="0" err="1"/>
              <a:t>pokok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(research Question)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. </a:t>
            </a:r>
            <a:r>
              <a:rPr lang="en-ID" dirty="0" err="1"/>
              <a:t>Dukung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data dan </a:t>
            </a:r>
            <a:r>
              <a:rPr lang="en-ID" dirty="0" err="1"/>
              <a:t>kopndisi</a:t>
            </a:r>
            <a:r>
              <a:rPr lang="en-ID" dirty="0"/>
              <a:t> </a:t>
            </a:r>
            <a:r>
              <a:rPr lang="en-ID" dirty="0" err="1"/>
              <a:t>eksisting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Tuliskan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orang lain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? Coba </a:t>
            </a:r>
            <a:r>
              <a:rPr lang="en-ID" dirty="0" err="1"/>
              <a:t>kaji</a:t>
            </a:r>
            <a:r>
              <a:rPr lang="en-ID" dirty="0"/>
              <a:t> dan </a:t>
            </a:r>
            <a:r>
              <a:rPr lang="en-ID" dirty="0" err="1"/>
              <a:t>sitasi</a:t>
            </a:r>
            <a:r>
              <a:rPr lang="en-ID" dirty="0"/>
              <a:t> </a:t>
            </a:r>
            <a:r>
              <a:rPr lang="en-ID" dirty="0" err="1"/>
              <a:t>penelitiannya</a:t>
            </a:r>
            <a:r>
              <a:rPr lang="en-ID" dirty="0"/>
              <a:t> (</a:t>
            </a:r>
            <a:r>
              <a:rPr lang="en-ID" dirty="0" err="1"/>
              <a:t>silahkan</a:t>
            </a:r>
            <a:r>
              <a:rPr lang="en-ID" dirty="0"/>
              <a:t> </a:t>
            </a:r>
            <a:r>
              <a:rPr lang="en-ID" dirty="0" err="1"/>
              <a:t>dukung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5 – 10 </a:t>
            </a:r>
            <a:r>
              <a:rPr lang="en-ID" dirty="0" err="1"/>
              <a:t>kajian</a:t>
            </a:r>
            <a:r>
              <a:rPr lang="en-ID" dirty="0"/>
              <a:t>) yang </a:t>
            </a:r>
            <a:r>
              <a:rPr lang="en-ID" dirty="0" err="1"/>
              <a:t>dilakukan</a:t>
            </a:r>
            <a:r>
              <a:rPr lang="en-ID" dirty="0"/>
              <a:t> oleh orang lain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yang </a:t>
            </a:r>
            <a:r>
              <a:rPr lang="en-ID" dirty="0" err="1"/>
              <a:t>saudara</a:t>
            </a:r>
            <a:r>
              <a:rPr lang="en-ID" dirty="0"/>
              <a:t> </a:t>
            </a:r>
            <a:r>
              <a:rPr lang="en-ID" dirty="0" err="1"/>
              <a:t>hadapi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Tunjukkan</a:t>
            </a:r>
            <a:r>
              <a:rPr lang="en-ID" dirty="0"/>
              <a:t> novelty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pembaharuan</a:t>
            </a:r>
            <a:r>
              <a:rPr lang="en-ID" dirty="0"/>
              <a:t> </a:t>
            </a:r>
            <a:r>
              <a:rPr lang="en-ID" dirty="0" err="1"/>
              <a:t>saudara</a:t>
            </a:r>
            <a:r>
              <a:rPr lang="en-ID" dirty="0"/>
              <a:t> Dimana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yang </a:t>
            </a:r>
            <a:r>
              <a:rPr lang="en-ID" dirty="0" err="1"/>
              <a:t>diajukan</a:t>
            </a:r>
            <a:r>
              <a:rPr lang="en-ID" dirty="0"/>
              <a:t> (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, knowledge, </a:t>
            </a:r>
            <a:r>
              <a:rPr lang="en-ID" dirty="0" err="1"/>
              <a:t>atau</a:t>
            </a:r>
            <a:r>
              <a:rPr lang="en-ID" dirty="0"/>
              <a:t> variable). Baut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arguimentadi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yang </a:t>
            </a:r>
            <a:r>
              <a:rPr lang="en-ID" dirty="0" err="1"/>
              <a:t>saudara</a:t>
            </a:r>
            <a:r>
              <a:rPr lang="en-ID" dirty="0"/>
              <a:t> </a:t>
            </a:r>
            <a:r>
              <a:rPr lang="en-ID" dirty="0" err="1"/>
              <a:t>ajukan</a:t>
            </a:r>
            <a:r>
              <a:rPr lang="en-ID" dirty="0"/>
              <a:t> Adalah </a:t>
            </a:r>
            <a:r>
              <a:rPr lang="en-ID" dirty="0" err="1"/>
              <a:t>memerbaiki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oleh orang lain.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Tuliskan</a:t>
            </a:r>
            <a:r>
              <a:rPr lang="en-ID" dirty="0"/>
              <a:t> Solusi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endParaRPr lang="en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dirty="0" err="1"/>
              <a:t>Tuliskan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dan </a:t>
            </a:r>
            <a:r>
              <a:rPr lang="en-ID" dirty="0" err="1"/>
              <a:t>uregnsinya</a:t>
            </a:r>
            <a:r>
              <a:rPr lang="en-ID" dirty="0"/>
              <a:t> 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, </a:t>
            </a:r>
            <a:r>
              <a:rPr lang="en-ID" dirty="0" err="1"/>
              <a:t>pemerintah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iptek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012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D379-1320-B356-8D71-3EC0DCC5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961"/>
          </a:xfrm>
        </p:spPr>
        <p:txBody>
          <a:bodyPr/>
          <a:lstStyle/>
          <a:p>
            <a:r>
              <a:rPr lang="en-US" dirty="0" err="1"/>
              <a:t>Identifikasi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925C0-FCEA-73BB-DB3A-1455B1B82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686"/>
            <a:ext cx="10515600" cy="50341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Hal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Identifikasi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diulas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aspek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Aktual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Sistem</a:t>
            </a:r>
            <a:r>
              <a:rPr lang="en-US" dirty="0"/>
              <a:t> atau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optimal dan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keterbatasan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.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Permasalahan</a:t>
            </a:r>
            <a:r>
              <a:rPr lang="en-US" dirty="0"/>
              <a:t> Teknis: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kendala</a:t>
            </a:r>
            <a:r>
              <a:rPr lang="en-US" dirty="0"/>
              <a:t> pada </a:t>
            </a:r>
            <a:r>
              <a:rPr lang="en-US" dirty="0" err="1"/>
              <a:t>akurasi</a:t>
            </a:r>
            <a:r>
              <a:rPr lang="en-US" dirty="0"/>
              <a:t>, </a:t>
            </a:r>
            <a:r>
              <a:rPr lang="en-US" dirty="0" err="1"/>
              <a:t>efisiensi</a:t>
            </a:r>
            <a:r>
              <a:rPr lang="en-US" dirty="0"/>
              <a:t>, dan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mengolah</a:t>
            </a:r>
            <a:r>
              <a:rPr lang="en-US" dirty="0"/>
              <a:t> data </a:t>
            </a:r>
            <a:r>
              <a:rPr lang="en-US" dirty="0" err="1"/>
              <a:t>kompleks</a:t>
            </a:r>
            <a:r>
              <a:rPr lang="en-US" dirty="0"/>
              <a:t>.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Kesenjangan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: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Belum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mengembangkan</a:t>
            </a:r>
            <a:r>
              <a:rPr lang="en-US" dirty="0"/>
              <a:t> atau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mendalam</a:t>
            </a:r>
            <a:r>
              <a:rPr lang="en-US" dirty="0"/>
              <a:t>.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Kinerja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kurang</a:t>
            </a:r>
            <a:r>
              <a:rPr lang="en-US" dirty="0"/>
              <a:t> optimal </a:t>
            </a:r>
            <a:r>
              <a:rPr lang="en-US" dirty="0" err="1"/>
              <a:t>berdampak</a:t>
            </a:r>
            <a:r>
              <a:rPr lang="en-US" dirty="0"/>
              <a:t> pada </a:t>
            </a:r>
            <a:r>
              <a:rPr lang="en-US" dirty="0" err="1"/>
              <a:t>keakuratan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dan </a:t>
            </a:r>
            <a:r>
              <a:rPr lang="en-US" dirty="0" err="1"/>
              <a:t>efektivitas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.</a:t>
            </a:r>
            <a:endParaRPr lang="en-ID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Arah 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</a:t>
            </a:r>
            <a:endParaRPr lang="en-ID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diarahkan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model atau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 dan </a:t>
            </a:r>
            <a:r>
              <a:rPr lang="en-US" dirty="0" err="1"/>
              <a:t>akurat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457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5DD3-2BE6-A9D7-E16D-3BFAF600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Ruang </a:t>
            </a:r>
            <a:r>
              <a:rPr lang="en-US" dirty="0" err="1"/>
              <a:t>Lingkup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83E8-6614-2DF9-9F0E-46DCCFFF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,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lingkup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(</a:t>
            </a:r>
            <a:r>
              <a:rPr lang="en-ID" dirty="0" err="1"/>
              <a:t>disebut</a:t>
            </a:r>
            <a:r>
              <a:rPr lang="en-ID" dirty="0"/>
              <a:t> juga </a:t>
            </a:r>
            <a:r>
              <a:rPr lang="en-ID" i="1" dirty="0"/>
              <a:t>scope of the research</a:t>
            </a:r>
            <a:r>
              <a:rPr lang="en-ID" dirty="0"/>
              <a:t> </a:t>
            </a:r>
            <a:r>
              <a:rPr lang="en-ID" dirty="0" err="1"/>
              <a:t>atau</a:t>
            </a:r>
            <a:r>
              <a:rPr lang="en-ID" dirty="0"/>
              <a:t> </a:t>
            </a:r>
            <a:r>
              <a:rPr lang="en-ID" i="1" dirty="0" err="1"/>
              <a:t>batasan</a:t>
            </a:r>
            <a:r>
              <a:rPr lang="en-ID" i="1" dirty="0"/>
              <a:t> </a:t>
            </a:r>
            <a:r>
              <a:rPr lang="en-ID" i="1" dirty="0" err="1"/>
              <a:t>penelitian</a:t>
            </a:r>
            <a:r>
              <a:rPr lang="en-ID" dirty="0"/>
              <a:t>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yang </a:t>
            </a:r>
            <a:r>
              <a:rPr lang="en-ID" b="1" dirty="0" err="1"/>
              <a:t>menjelaskan</a:t>
            </a:r>
            <a:r>
              <a:rPr lang="en-ID" b="1" dirty="0"/>
              <a:t> batas-batas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studi</a:t>
            </a:r>
            <a:r>
              <a:rPr lang="en-ID" dirty="0"/>
              <a:t> 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dilakukan</a:t>
            </a:r>
            <a:endParaRPr lang="en-ID" dirty="0"/>
          </a:p>
          <a:p>
            <a:r>
              <a:rPr lang="en-ID" dirty="0"/>
              <a:t>Dalam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dituliskan</a:t>
            </a:r>
            <a:r>
              <a:rPr lang="en-ID" dirty="0"/>
              <a:t> minimal </a:t>
            </a:r>
            <a:r>
              <a:rPr lang="en-ID" dirty="0" err="1"/>
              <a:t>ada</a:t>
            </a:r>
            <a:r>
              <a:rPr lang="en-ID" dirty="0"/>
              <a:t> 5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endParaRPr lang="en-ID" dirty="0"/>
          </a:p>
          <a:p>
            <a:pPr marL="971550" lvl="1" indent="-514350">
              <a:buFont typeface="+mj-lt"/>
              <a:buAutoNum type="arabicParenR"/>
            </a:pPr>
            <a:r>
              <a:rPr lang="en-ID" b="1" dirty="0" err="1"/>
              <a:t>Topik</a:t>
            </a:r>
            <a:r>
              <a:rPr lang="en-ID" b="1" dirty="0"/>
              <a:t> &amp; </a:t>
            </a:r>
            <a:r>
              <a:rPr lang="en-ID" b="1" dirty="0" err="1"/>
              <a:t>Variabel</a:t>
            </a:r>
            <a:r>
              <a:rPr lang="en-ID" b="1" dirty="0"/>
              <a:t>:</a:t>
            </a:r>
            <a:r>
              <a:rPr lang="en-ID" dirty="0"/>
              <a:t> Hanya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variabel</a:t>
            </a:r>
            <a:r>
              <a:rPr lang="en-ID" dirty="0"/>
              <a:t> X dan Y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keterbatasan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, </a:t>
            </a:r>
            <a:r>
              <a:rPr lang="en-ID" dirty="0" err="1"/>
              <a:t>Aspek</a:t>
            </a:r>
            <a:r>
              <a:rPr lang="en-ID" dirty="0"/>
              <a:t> lain </a:t>
            </a:r>
            <a:r>
              <a:rPr lang="en-ID" dirty="0" err="1"/>
              <a:t>dikecualikan</a:t>
            </a:r>
            <a:r>
              <a:rPr lang="en-ID" dirty="0"/>
              <a:t>.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D" b="1" dirty="0" err="1"/>
              <a:t>Subjek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r>
              <a:rPr lang="en-ID" dirty="0"/>
              <a:t> </a:t>
            </a:r>
            <a:r>
              <a:rPr lang="en-ID" dirty="0" err="1"/>
              <a:t>obyek</a:t>
            </a:r>
            <a:r>
              <a:rPr lang="en-ID" dirty="0"/>
              <a:t>, dataset, </a:t>
            </a:r>
            <a:r>
              <a:rPr lang="en-ID" dirty="0" err="1"/>
              <a:t>Populasi</a:t>
            </a:r>
            <a:r>
              <a:rPr lang="en-ID" dirty="0"/>
              <a:t>/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[</a:t>
            </a:r>
            <a:r>
              <a:rPr lang="en-ID" dirty="0" err="1"/>
              <a:t>sebutkan</a:t>
            </a:r>
            <a:r>
              <a:rPr lang="en-ID" dirty="0"/>
              <a:t>], di </a:t>
            </a:r>
            <a:r>
              <a:rPr lang="en-ID" dirty="0" err="1"/>
              <a:t>lokasi</a:t>
            </a:r>
            <a:r>
              <a:rPr lang="en-ID" dirty="0"/>
              <a:t> [</a:t>
            </a:r>
            <a:r>
              <a:rPr lang="en-ID" dirty="0" err="1"/>
              <a:t>sebutkan</a:t>
            </a:r>
            <a:r>
              <a:rPr lang="en-ID" dirty="0"/>
              <a:t>].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D" b="1" dirty="0"/>
              <a:t>Waktu </a:t>
            </a:r>
            <a:r>
              <a:rPr lang="en-ID" b="1" dirty="0" err="1"/>
              <a:t>Pelaksanaan</a:t>
            </a:r>
            <a:r>
              <a:rPr lang="en-ID" b="1" dirty="0"/>
              <a:t>:</a:t>
            </a:r>
            <a:r>
              <a:rPr lang="en-ID" dirty="0"/>
              <a:t> 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[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], pada [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].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D" b="1" dirty="0"/>
              <a:t>Teori:</a:t>
            </a:r>
            <a:r>
              <a:rPr lang="en-ID" dirty="0"/>
              <a:t> 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 [</a:t>
            </a:r>
            <a:r>
              <a:rPr lang="en-ID" dirty="0" err="1"/>
              <a:t>sebutkan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]. Teori </a:t>
            </a:r>
            <a:r>
              <a:rPr lang="en-ID" dirty="0" err="1"/>
              <a:t>khusus</a:t>
            </a:r>
            <a:r>
              <a:rPr lang="en-ID" dirty="0"/>
              <a:t> dan </a:t>
            </a:r>
            <a:r>
              <a:rPr lang="en-ID" dirty="0" err="1"/>
              <a:t>teori</a:t>
            </a:r>
            <a:r>
              <a:rPr lang="en-ID" dirty="0"/>
              <a:t> lain </a:t>
            </a:r>
            <a:r>
              <a:rPr lang="en-ID" dirty="0" err="1"/>
              <a:t>diabaikan</a:t>
            </a:r>
            <a:endParaRPr lang="en-ID" dirty="0"/>
          </a:p>
          <a:p>
            <a:pPr marL="971550" lvl="1" indent="-514350">
              <a:buFont typeface="+mj-lt"/>
              <a:buAutoNum type="arabicParenR"/>
            </a:pPr>
            <a:r>
              <a:rPr lang="en-ID" b="1" dirty="0" err="1"/>
              <a:t>Metodologi</a:t>
            </a:r>
            <a:r>
              <a:rPr lang="en-ID" b="1" dirty="0"/>
              <a:t>:</a:t>
            </a:r>
            <a:r>
              <a:rPr lang="en-ID" dirty="0"/>
              <a:t> Jenis </a:t>
            </a:r>
            <a:r>
              <a:rPr lang="en-ID" dirty="0" err="1"/>
              <a:t>penelitian</a:t>
            </a:r>
            <a:r>
              <a:rPr lang="en-ID" dirty="0"/>
              <a:t> [</a:t>
            </a:r>
            <a:r>
              <a:rPr lang="en-ID" dirty="0" err="1"/>
              <a:t>sebutkan</a:t>
            </a:r>
            <a:r>
              <a:rPr lang="en-ID" dirty="0"/>
              <a:t>],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pengumpulan</a:t>
            </a:r>
            <a:r>
              <a:rPr lang="en-ID" dirty="0"/>
              <a:t> dan </a:t>
            </a:r>
            <a:r>
              <a:rPr lang="en-ID" dirty="0" err="1"/>
              <a:t>analisis</a:t>
            </a:r>
            <a:r>
              <a:rPr lang="en-ID" dirty="0"/>
              <a:t> data [</a:t>
            </a:r>
            <a:r>
              <a:rPr lang="en-ID" dirty="0" err="1"/>
              <a:t>sebutkan</a:t>
            </a:r>
            <a:r>
              <a:rPr lang="en-ID" dirty="0"/>
              <a:t>].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8695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A447-E595-735A-300E-68A175010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FD8A-EE21-9FDC-D1B7-D9390EE3E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b="1" dirty="0" err="1"/>
              <a:t>pertanyaan</a:t>
            </a:r>
            <a:r>
              <a:rPr lang="en-ID" b="1" dirty="0"/>
              <a:t> </a:t>
            </a:r>
            <a:r>
              <a:rPr lang="en-ID" b="1" dirty="0" err="1"/>
              <a:t>sentral</a:t>
            </a:r>
            <a:r>
              <a:rPr lang="en-ID" dirty="0"/>
              <a:t> 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dijawab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 </a:t>
            </a:r>
            <a:r>
              <a:rPr lang="en-ID" b="1" dirty="0" err="1"/>
              <a:t>masalah</a:t>
            </a:r>
            <a:r>
              <a:rPr lang="en-ID" b="1" dirty="0"/>
              <a:t> </a:t>
            </a:r>
            <a:r>
              <a:rPr lang="en-ID" b="1" dirty="0" err="1"/>
              <a:t>spesifik</a:t>
            </a:r>
            <a:r>
              <a:rPr lang="en-ID" dirty="0"/>
              <a:t> 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dipecahkan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 </a:t>
            </a:r>
          </a:p>
          <a:p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</a:t>
            </a:r>
            <a:r>
              <a:rPr lang="en-US" dirty="0" err="1"/>
              <a:t>pertanyaan</a:t>
            </a:r>
            <a:endParaRPr lang="en-US" dirty="0"/>
          </a:p>
          <a:p>
            <a:r>
              <a:rPr lang="en-ID" dirty="0" err="1"/>
              <a:t>Dituliskan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kata-kata yang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makna</a:t>
            </a:r>
            <a:r>
              <a:rPr lang="en-ID" dirty="0"/>
              <a:t> (</a:t>
            </a:r>
            <a:r>
              <a:rPr lang="en-ID" b="1" dirty="0"/>
              <a:t>Jelas dan Tidak </a:t>
            </a:r>
            <a:r>
              <a:rPr lang="en-ID" b="1" dirty="0" err="1"/>
              <a:t>Ambigu</a:t>
            </a:r>
            <a:r>
              <a:rPr lang="en-ID" b="1" dirty="0"/>
              <a:t>)</a:t>
            </a:r>
          </a:p>
          <a:p>
            <a:r>
              <a:rPr lang="en-US" dirty="0" err="1"/>
              <a:t>Spesifik</a:t>
            </a:r>
            <a:r>
              <a:rPr lang="en-US" dirty="0"/>
              <a:t> dan </a:t>
            </a:r>
            <a:r>
              <a:rPr lang="en-US" dirty="0" err="1"/>
              <a:t>Terfokus</a:t>
            </a:r>
            <a:r>
              <a:rPr lang="en-US" dirty="0"/>
              <a:t>, ---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dan </a:t>
            </a:r>
            <a:r>
              <a:rPr lang="en-US" dirty="0" err="1"/>
              <a:t>terbatas</a:t>
            </a:r>
            <a:endParaRPr lang="en-ID" dirty="0"/>
          </a:p>
          <a:p>
            <a:r>
              <a:rPr lang="en-US" dirty="0"/>
              <a:t> Dapat </a:t>
            </a:r>
            <a:r>
              <a:rPr lang="en-US" dirty="0" err="1"/>
              <a:t>Diteliti</a:t>
            </a:r>
            <a:r>
              <a:rPr lang="en-US" dirty="0"/>
              <a:t> (Researchable),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dijawab</a:t>
            </a:r>
            <a:r>
              <a:rPr lang="en-US" dirty="0"/>
              <a:t> dengan data yang feasible </a:t>
            </a:r>
            <a:r>
              <a:rPr lang="en-US" dirty="0" err="1"/>
              <a:t>dikumpulkan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3303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1537-1F7B-8565-6D9B-1A969350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 dan Manfaat </a:t>
            </a:r>
            <a:r>
              <a:rPr lang="en-US" dirty="0" err="1"/>
              <a:t>Penelitian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9F9C-43EF-D4D6-B354-D4F7AC4FD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14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/>
              <a:t>TUJUAN PENELITIAN</a:t>
            </a:r>
          </a:p>
          <a:p>
            <a:r>
              <a:rPr lang="en-ID" dirty="0"/>
              <a:t>Bisa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kata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…...</a:t>
            </a:r>
          </a:p>
          <a:p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jawaban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. </a:t>
            </a:r>
          </a:p>
          <a:p>
            <a:r>
              <a:rPr lang="en-ID" dirty="0" err="1"/>
              <a:t>Menggunakan</a:t>
            </a:r>
            <a:r>
              <a:rPr lang="en-ID" dirty="0"/>
              <a:t> kata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spesifik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diamati</a:t>
            </a:r>
            <a:endParaRPr lang="en-ID" dirty="0"/>
          </a:p>
          <a:p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sasaran</a:t>
            </a:r>
            <a:r>
              <a:rPr lang="en-ID" dirty="0"/>
              <a:t> </a:t>
            </a:r>
            <a:r>
              <a:rPr lang="en-ID" dirty="0" err="1"/>
              <a:t>konkret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dicapai</a:t>
            </a:r>
            <a:endParaRPr lang="en-ID" dirty="0"/>
          </a:p>
          <a:p>
            <a:r>
              <a:rPr lang="en-ID" dirty="0" err="1"/>
              <a:t>Dirumuskan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pernyataan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dan </a:t>
            </a:r>
            <a:r>
              <a:rPr lang="en-ID" dirty="0" err="1"/>
              <a:t>terukur</a:t>
            </a:r>
            <a:endParaRPr lang="en-ID" dirty="0"/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62B5A-7E01-8E36-0A0E-44B8D95C6A52}"/>
              </a:ext>
            </a:extLst>
          </p:cNvPr>
          <p:cNvSpPr txBox="1"/>
          <p:nvPr/>
        </p:nvSpPr>
        <p:spPr>
          <a:xfrm>
            <a:off x="6183086" y="1959429"/>
            <a:ext cx="5508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MANFAAT PENELITIAN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guna dan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Dibagi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dua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:</a:t>
            </a:r>
          </a:p>
          <a:p>
            <a:r>
              <a:rPr lang="en-ID" b="1" dirty="0"/>
              <a:t>Manfaat </a:t>
            </a:r>
            <a:r>
              <a:rPr lang="en-ID" b="1" dirty="0" err="1"/>
              <a:t>Teoritis</a:t>
            </a:r>
            <a:r>
              <a:rPr lang="en-ID" b="1" dirty="0"/>
              <a:t>: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dan </a:t>
            </a:r>
            <a:r>
              <a:rPr lang="en-ID" dirty="0" err="1"/>
              <a:t>teori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Penyempurnaan</a:t>
            </a:r>
            <a:r>
              <a:rPr lang="en-ID" dirty="0"/>
              <a:t> model/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keilmuan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Landasan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selanjutnya</a:t>
            </a:r>
            <a:endParaRPr lang="en-ID" dirty="0"/>
          </a:p>
          <a:p>
            <a:r>
              <a:rPr lang="en-ID" b="1" dirty="0"/>
              <a:t>Manfaat </a:t>
            </a:r>
            <a:r>
              <a:rPr lang="en-ID" b="1" dirty="0" err="1"/>
              <a:t>Praktis</a:t>
            </a:r>
            <a:r>
              <a:rPr lang="en-ID" b="1" dirty="0"/>
              <a:t>: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Bagi </a:t>
            </a:r>
            <a:r>
              <a:rPr lang="en-ID" dirty="0" err="1"/>
              <a:t>institusi</a:t>
            </a:r>
            <a:r>
              <a:rPr lang="en-ID" dirty="0"/>
              <a:t>/</a:t>
            </a:r>
            <a:r>
              <a:rPr lang="en-ID" dirty="0" err="1"/>
              <a:t>lembaga</a:t>
            </a:r>
            <a:r>
              <a:rPr lang="en-ID" dirty="0"/>
              <a:t> </a:t>
            </a:r>
            <a:r>
              <a:rPr lang="en-ID" dirty="0" err="1"/>
              <a:t>terkait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Bagi </a:t>
            </a:r>
            <a:r>
              <a:rPr lang="en-ID" dirty="0" err="1"/>
              <a:t>masyarakat</a:t>
            </a:r>
            <a:r>
              <a:rPr lang="en-ID" dirty="0"/>
              <a:t>/</a:t>
            </a:r>
            <a:r>
              <a:rPr lang="en-ID" dirty="0" err="1"/>
              <a:t>pemangku</a:t>
            </a:r>
            <a:r>
              <a:rPr lang="en-ID" dirty="0"/>
              <a:t> </a:t>
            </a:r>
            <a:r>
              <a:rPr lang="en-ID" dirty="0" err="1"/>
              <a:t>kepentingan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Bagi </a:t>
            </a:r>
            <a:r>
              <a:rPr lang="en-ID" dirty="0" err="1"/>
              <a:t>peneliti</a:t>
            </a:r>
            <a:r>
              <a:rPr lang="en-ID" dirty="0"/>
              <a:t> dan </a:t>
            </a:r>
            <a:r>
              <a:rPr lang="en-ID" dirty="0" err="1"/>
              <a:t>praktisi</a:t>
            </a:r>
            <a:r>
              <a:rPr lang="en-ID" dirty="0"/>
              <a:t> di </a:t>
            </a:r>
            <a:r>
              <a:rPr lang="en-ID" dirty="0" err="1"/>
              <a:t>bidangnya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10321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4E70-FCC3-3CED-54B2-8C4A8F56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Sistematikan</a:t>
            </a:r>
            <a:r>
              <a:rPr lang="en-US" dirty="0"/>
              <a:t> Penulisan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D0BD-0223-024D-2CB6-52B9E6CA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Sistematikan</a:t>
            </a:r>
            <a:r>
              <a:rPr lang="en-US" dirty="0"/>
              <a:t> penulisan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outlin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proposal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BAB I, BAB II dan BAB III</a:t>
            </a:r>
          </a:p>
          <a:p>
            <a:r>
              <a:rPr lang="en-US" dirty="0" err="1"/>
              <a:t>Diuraikan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dengan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bab</a:t>
            </a:r>
            <a:r>
              <a:rPr lang="en-US" dirty="0"/>
              <a:t> per </a:t>
            </a:r>
            <a:r>
              <a:rPr lang="en-US" dirty="0" err="1"/>
              <a:t>bab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472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D426-30A9-96BC-5312-794398A7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II </a:t>
            </a:r>
            <a:r>
              <a:rPr lang="en-US" dirty="0" err="1"/>
              <a:t>landasan</a:t>
            </a:r>
            <a:r>
              <a:rPr lang="en-US" dirty="0"/>
              <a:t> Teori dan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Pemikiran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B21E-8519-11F6-1F09-F4CA5A335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793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4823-885F-69D1-50C6-303CCC99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Tinjauan</a:t>
            </a:r>
            <a:r>
              <a:rPr lang="en-US" dirty="0"/>
              <a:t> Pustaka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3E8F-CD7E-C653-CB59-B1665FEED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b="1" dirty="0" err="1"/>
              <a:t>Tinjauan</a:t>
            </a:r>
            <a:r>
              <a:rPr lang="en-ID" b="1" dirty="0"/>
              <a:t> Pustaka</a:t>
            </a:r>
            <a:r>
              <a:rPr lang="en-ID" dirty="0"/>
              <a:t> 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karya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 </a:t>
            </a:r>
            <a:r>
              <a:rPr lang="en-ID" b="1" dirty="0" err="1"/>
              <a:t>tinjauan</a:t>
            </a:r>
            <a:r>
              <a:rPr lang="en-ID" b="1" dirty="0"/>
              <a:t> </a:t>
            </a:r>
            <a:r>
              <a:rPr lang="en-ID" b="1" dirty="0" err="1"/>
              <a:t>kritis</a:t>
            </a:r>
            <a:r>
              <a:rPr lang="en-ID" b="1" dirty="0"/>
              <a:t> dan </a:t>
            </a:r>
            <a:r>
              <a:rPr lang="en-ID" b="1" dirty="0" err="1"/>
              <a:t>sistematis</a:t>
            </a:r>
            <a:r>
              <a:rPr lang="en-ID" dirty="0"/>
              <a:t> 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sumber-sumber</a:t>
            </a:r>
            <a:r>
              <a:rPr lang="en-ID" dirty="0"/>
              <a:t> </a:t>
            </a:r>
            <a:r>
              <a:rPr lang="en-ID" dirty="0" err="1"/>
              <a:t>literatur</a:t>
            </a:r>
            <a:r>
              <a:rPr lang="en-ID" dirty="0"/>
              <a:t> (</a:t>
            </a:r>
            <a:r>
              <a:rPr lang="en-ID" dirty="0" err="1"/>
              <a:t>buku</a:t>
            </a:r>
            <a:r>
              <a:rPr lang="en-ID" dirty="0"/>
              <a:t>, </a:t>
            </a:r>
            <a:r>
              <a:rPr lang="en-ID" dirty="0" err="1"/>
              <a:t>jurnal</a:t>
            </a:r>
            <a:r>
              <a:rPr lang="en-ID" dirty="0"/>
              <a:t>, </a:t>
            </a:r>
            <a:r>
              <a:rPr lang="en-ID" dirty="0" err="1"/>
              <a:t>artikel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, dan </a:t>
            </a:r>
            <a:r>
              <a:rPr lang="en-ID" dirty="0" err="1"/>
              <a:t>publikasi</a:t>
            </a:r>
            <a:r>
              <a:rPr lang="en-ID" dirty="0"/>
              <a:t> </a:t>
            </a:r>
            <a:r>
              <a:rPr lang="en-ID" dirty="0" err="1"/>
              <a:t>terpercaya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) yang </a:t>
            </a:r>
            <a:r>
              <a:rPr lang="en-ID" b="1" dirty="0" err="1"/>
              <a:t>relevan</a:t>
            </a:r>
            <a:r>
              <a:rPr lang="en-ID" dirty="0"/>
              <a:t> 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topik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r>
              <a:rPr lang="en-US" dirty="0"/>
              <a:t>Pada </a:t>
            </a:r>
            <a:r>
              <a:rPr lang="en-US" dirty="0" err="1"/>
              <a:t>Tinjuana</a:t>
            </a:r>
            <a:r>
              <a:rPr lang="en-US" dirty="0"/>
              <a:t> Pustaka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dituliskan</a:t>
            </a:r>
            <a:r>
              <a:rPr lang="en-US" dirty="0"/>
              <a:t> minimal 10 </a:t>
            </a:r>
            <a:r>
              <a:rPr lang="en-US" dirty="0" err="1"/>
              <a:t>kajian</a:t>
            </a:r>
            <a:r>
              <a:rPr lang="en-US" dirty="0"/>
              <a:t> yang </a:t>
            </a:r>
            <a:r>
              <a:rPr lang="en-US" dirty="0" err="1"/>
              <a:t>dijadikan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babon</a:t>
            </a:r>
            <a:r>
              <a:rPr lang="en-US" dirty="0"/>
              <a:t> atau </a:t>
            </a:r>
            <a:r>
              <a:rPr lang="en-US" dirty="0" err="1"/>
              <a:t>induk</a:t>
            </a:r>
            <a:r>
              <a:rPr lang="en-US" dirty="0"/>
              <a:t> </a:t>
            </a:r>
            <a:r>
              <a:rPr lang="en-US" dirty="0" err="1"/>
              <a:t>acuan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saudara. </a:t>
            </a:r>
          </a:p>
          <a:p>
            <a:r>
              <a:rPr lang="en-US" dirty="0"/>
              <a:t>Penulisan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pendahulu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ringkas</a:t>
            </a:r>
            <a:r>
              <a:rPr lang="en-US" dirty="0"/>
              <a:t> yang </a:t>
            </a:r>
            <a:r>
              <a:rPr lang="en-US" dirty="0" err="1"/>
              <a:t>mencakup</a:t>
            </a:r>
            <a:r>
              <a:rPr lang="en-US" dirty="0"/>
              <a:t>:</a:t>
            </a:r>
            <a:r>
              <a:rPr lang="en-ID" dirty="0"/>
              <a:t> (</a:t>
            </a:r>
            <a:r>
              <a:rPr lang="en-ID" dirty="0" err="1"/>
              <a:t>peneliti</a:t>
            </a:r>
            <a:r>
              <a:rPr lang="en-ID" dirty="0"/>
              <a:t>, </a:t>
            </a:r>
            <a:r>
              <a:rPr lang="en-ID" dirty="0" err="1"/>
              <a:t>tahun</a:t>
            </a:r>
            <a:r>
              <a:rPr lang="en-ID" dirty="0"/>
              <a:t>, </a:t>
            </a:r>
            <a:r>
              <a:rPr lang="en-ID" dirty="0" err="1"/>
              <a:t>judul</a:t>
            </a:r>
            <a:r>
              <a:rPr lang="en-ID" dirty="0"/>
              <a:t>); </a:t>
            </a:r>
            <a:r>
              <a:rPr lang="en-ID" b="1" dirty="0"/>
              <a:t>Tujuan</a:t>
            </a:r>
            <a:r>
              <a:rPr lang="en-ID" dirty="0"/>
              <a:t> dan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studi</a:t>
            </a:r>
            <a:r>
              <a:rPr lang="en-ID" dirty="0"/>
              <a:t>, </a:t>
            </a:r>
            <a:r>
              <a:rPr lang="en-ID" b="1" dirty="0"/>
              <a:t>Metode</a:t>
            </a:r>
            <a:r>
              <a:rPr lang="en-ID" dirty="0"/>
              <a:t> yang </a:t>
            </a:r>
            <a:r>
              <a:rPr lang="en-ID" dirty="0" err="1"/>
              <a:t>digunakan</a:t>
            </a:r>
            <a:r>
              <a:rPr lang="en-ID" dirty="0"/>
              <a:t>; </a:t>
            </a:r>
            <a:r>
              <a:rPr lang="en-ID" b="1" dirty="0" err="1"/>
              <a:t>Temuan</a:t>
            </a:r>
            <a:r>
              <a:rPr lang="en-ID" b="1" dirty="0"/>
              <a:t> </a:t>
            </a:r>
            <a:r>
              <a:rPr lang="en-ID" b="1" dirty="0" err="1"/>
              <a:t>utama</a:t>
            </a:r>
            <a:r>
              <a:rPr lang="en-ID" dirty="0"/>
              <a:t> yang </a:t>
            </a:r>
            <a:r>
              <a:rPr lang="en-ID" dirty="0" err="1"/>
              <a:t>relevan</a:t>
            </a:r>
            <a:r>
              <a:rPr lang="en-ID" dirty="0"/>
              <a:t>; </a:t>
            </a:r>
            <a:r>
              <a:rPr lang="en-ID" b="1" dirty="0" err="1"/>
              <a:t>Keterkaitan</a:t>
            </a:r>
            <a:r>
              <a:rPr lang="en-ID" dirty="0"/>
              <a:t> 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; </a:t>
            </a:r>
            <a:r>
              <a:rPr lang="en-ID" b="1" dirty="0" err="1"/>
              <a:t>Perbedaan</a:t>
            </a:r>
            <a:r>
              <a:rPr lang="en-ID" dirty="0"/>
              <a:t> 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pembeda</a:t>
            </a:r>
            <a:r>
              <a:rPr lang="en-ID" dirty="0"/>
              <a:t> </a:t>
            </a:r>
            <a:r>
              <a:rPr lang="en-ID" dirty="0" err="1"/>
              <a:t>studi</a:t>
            </a:r>
            <a:r>
              <a:rPr lang="en-ID" dirty="0"/>
              <a:t>; </a:t>
            </a:r>
            <a:r>
              <a:rPr lang="en-ID" b="1" dirty="0" err="1"/>
              <a:t>Posisi</a:t>
            </a:r>
            <a:r>
              <a:rPr lang="en-ID" dirty="0"/>
              <a:t> 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peta</a:t>
            </a:r>
            <a:r>
              <a:rPr lang="en-ID" dirty="0"/>
              <a:t> </a:t>
            </a:r>
            <a:r>
              <a:rPr lang="en-ID" dirty="0" err="1"/>
              <a:t>keilmuan</a:t>
            </a:r>
            <a:endParaRPr lang="en-ID" dirty="0"/>
          </a:p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kajian</a:t>
            </a:r>
            <a:r>
              <a:rPr lang="en-ID" dirty="0"/>
              <a:t> </a:t>
            </a:r>
            <a:r>
              <a:rPr lang="en-ID" dirty="0" err="1"/>
              <a:t>penelitia</a:t>
            </a:r>
            <a:r>
              <a:rPr lang="en-ID" dirty="0"/>
              <a:t> </a:t>
            </a:r>
            <a:r>
              <a:rPr lang="en-ID" dirty="0" err="1"/>
              <a:t>pendahulu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pendukung</a:t>
            </a:r>
            <a:r>
              <a:rPr lang="en-ID" dirty="0"/>
              <a:t> </a:t>
            </a:r>
            <a:r>
              <a:rPr lang="en-ID" dirty="0" err="1"/>
              <a:t>buatkan</a:t>
            </a:r>
            <a:r>
              <a:rPr lang="en-ID" dirty="0"/>
              <a:t> </a:t>
            </a:r>
            <a:r>
              <a:rPr lang="en-ID" dirty="0" err="1"/>
              <a:t>kajian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pendahulu</a:t>
            </a:r>
            <a:r>
              <a:rPr lang="en-ID" dirty="0"/>
              <a:t> yang </a:t>
            </a:r>
            <a:r>
              <a:rPr lang="en-ID" dirty="0" err="1"/>
              <a:t>dituangkand</a:t>
            </a:r>
            <a:r>
              <a:rPr lang="en-ID" dirty="0"/>
              <a:t> </a:t>
            </a:r>
            <a:r>
              <a:rPr lang="en-ID" dirty="0" err="1"/>
              <a:t>alam</a:t>
            </a:r>
            <a:r>
              <a:rPr lang="en-ID" dirty="0"/>
              <a:t>  </a:t>
            </a:r>
            <a:r>
              <a:rPr lang="en-ID" dirty="0" err="1"/>
              <a:t>bnrtuk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(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minimal 30 paper yang </a:t>
            </a:r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saudara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376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D69A-F649-2790-87B1-B86610ED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Landasan</a:t>
            </a:r>
            <a:r>
              <a:rPr lang="en-US" dirty="0"/>
              <a:t> Teori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DD39-5449-00E3-8628-66E59E0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b="1" dirty="0" err="1"/>
              <a:t>Landasan</a:t>
            </a:r>
            <a:r>
              <a:rPr lang="en-ID" b="1" dirty="0"/>
              <a:t> Teori</a:t>
            </a:r>
            <a:r>
              <a:rPr lang="en-ID" dirty="0"/>
              <a:t> 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 </a:t>
            </a:r>
            <a:r>
              <a:rPr lang="en-ID" b="1" dirty="0" err="1"/>
              <a:t>kumpulan</a:t>
            </a:r>
            <a:r>
              <a:rPr lang="en-ID" b="1" dirty="0"/>
              <a:t> </a:t>
            </a:r>
            <a:r>
              <a:rPr lang="en-ID" b="1" dirty="0" err="1"/>
              <a:t>teori</a:t>
            </a:r>
            <a:r>
              <a:rPr lang="en-ID" b="1" dirty="0"/>
              <a:t>, </a:t>
            </a:r>
            <a:r>
              <a:rPr lang="en-ID" b="1" dirty="0" err="1"/>
              <a:t>konsep</a:t>
            </a:r>
            <a:r>
              <a:rPr lang="en-ID" b="1" dirty="0"/>
              <a:t>, dan </a:t>
            </a:r>
            <a:r>
              <a:rPr lang="en-ID" b="1" dirty="0" err="1"/>
              <a:t>hasil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 </a:t>
            </a:r>
            <a:r>
              <a:rPr lang="en-ID" b="1" dirty="0" err="1"/>
              <a:t>terdahulu</a:t>
            </a:r>
            <a:r>
              <a:rPr lang="en-ID" dirty="0"/>
              <a:t> yang </a:t>
            </a:r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yang </a:t>
            </a:r>
            <a:r>
              <a:rPr lang="en-ID" dirty="0" err="1"/>
              <a:t>diteliti</a:t>
            </a:r>
            <a:r>
              <a:rPr lang="en-ID" dirty="0"/>
              <a:t>.</a:t>
            </a:r>
          </a:p>
          <a:p>
            <a:r>
              <a:rPr lang="en-ID" dirty="0"/>
              <a:t>Teori </a:t>
            </a:r>
            <a:r>
              <a:rPr lang="en-ID" dirty="0" err="1"/>
              <a:t>dituliskan</a:t>
            </a:r>
            <a:r>
              <a:rPr lang="en-ID" dirty="0"/>
              <a:t> </a:t>
            </a:r>
            <a:r>
              <a:rPr lang="en-ID" b="1" dirty="0"/>
              <a:t> Mulai </a:t>
            </a:r>
            <a:r>
              <a:rPr lang="en-ID" b="1" dirty="0" err="1"/>
              <a:t>dari</a:t>
            </a:r>
            <a:r>
              <a:rPr lang="en-ID" b="1" dirty="0"/>
              <a:t> Teori Umum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Khusus</a:t>
            </a:r>
            <a:r>
              <a:rPr lang="en-ID" b="1" dirty="0"/>
              <a:t> (</a:t>
            </a:r>
            <a:r>
              <a:rPr lang="en-ID" b="1" dirty="0" err="1"/>
              <a:t>Deduktif</a:t>
            </a:r>
            <a:r>
              <a:rPr lang="en-ID" b="1" dirty="0"/>
              <a:t>)</a:t>
            </a:r>
          </a:p>
          <a:p>
            <a:r>
              <a:rPr lang="sv-SE" b="1" dirty="0"/>
              <a:t>Hindari Deskripsi Semata (Analisis, Jangan Hanya Melaporkan),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 </a:t>
            </a:r>
            <a:r>
              <a:rPr lang="en-ID" i="1" dirty="0" err="1"/>
              <a:t>menganalisis</a:t>
            </a:r>
            <a:r>
              <a:rPr lang="en-ID" dirty="0"/>
              <a:t>, </a:t>
            </a:r>
            <a:r>
              <a:rPr lang="en-ID" i="1" dirty="0" err="1"/>
              <a:t>membandingkan</a:t>
            </a:r>
            <a:r>
              <a:rPr lang="en-ID" dirty="0"/>
              <a:t>, dan </a:t>
            </a:r>
            <a:r>
              <a:rPr lang="en-ID" i="1" dirty="0" err="1"/>
              <a:t>mengkritisi</a:t>
            </a:r>
            <a:r>
              <a:rPr lang="en-ID" dirty="0"/>
              <a:t> </a:t>
            </a:r>
            <a:r>
              <a:rPr lang="en-ID" dirty="0" err="1"/>
              <a:t>teori-teori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relevansinya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.</a:t>
            </a:r>
          </a:p>
          <a:p>
            <a:r>
              <a:rPr lang="en-ID" b="1" dirty="0" err="1"/>
              <a:t>Berikan</a:t>
            </a:r>
            <a:r>
              <a:rPr lang="en-ID" b="1" dirty="0"/>
              <a:t> </a:t>
            </a:r>
            <a:r>
              <a:rPr lang="en-ID" b="1" dirty="0" err="1"/>
              <a:t>Interpretasi</a:t>
            </a:r>
            <a:r>
              <a:rPr lang="en-ID" b="1" dirty="0"/>
              <a:t> Pribadi, 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dirty="0" err="1"/>
              <a:t>pendapat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</a:t>
            </a:r>
            <a:r>
              <a:rPr lang="en-ID" dirty="0" err="1"/>
              <a:t>saudara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teori-teori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berhubungan</a:t>
            </a:r>
            <a:r>
              <a:rPr lang="en-ID" dirty="0"/>
              <a:t>, di mana </a:t>
            </a:r>
            <a:r>
              <a:rPr lang="en-ID" dirty="0" err="1"/>
              <a:t>letak</a:t>
            </a:r>
            <a:r>
              <a:rPr lang="en-ID" dirty="0"/>
              <a:t> </a:t>
            </a:r>
            <a:r>
              <a:rPr lang="en-ID" dirty="0" err="1"/>
              <a:t>kelemahannya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saudara</a:t>
            </a:r>
            <a:r>
              <a:rPr lang="en-ID" dirty="0"/>
              <a:t> </a:t>
            </a:r>
            <a:r>
              <a:rPr lang="en-ID" dirty="0" err="1"/>
              <a:t>memodifikasinya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saudara</a:t>
            </a:r>
            <a:r>
              <a:rPr lang="en-ID" dirty="0"/>
              <a:t>.</a:t>
            </a:r>
          </a:p>
          <a:p>
            <a:endParaRPr lang="sv-SE" b="1" dirty="0"/>
          </a:p>
          <a:p>
            <a:endParaRPr lang="en-ID" b="1" dirty="0"/>
          </a:p>
          <a:p>
            <a:endParaRPr lang="en-ID" b="1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4511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7E87-99CF-7359-3B3A-AF234F7B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Pemikiran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4E3D-0FFC-01BD-27CA-B0FDE6370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dirty="0" err="1"/>
              <a:t>Kerangka</a:t>
            </a:r>
            <a:r>
              <a:rPr lang="en-ID" dirty="0"/>
              <a:t> </a:t>
            </a:r>
            <a:r>
              <a:rPr lang="en-ID" dirty="0" err="1"/>
              <a:t>pemikiran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diagram/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yang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pikiran</a:t>
            </a:r>
            <a:r>
              <a:rPr lang="en-ID" dirty="0"/>
              <a:t>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, </a:t>
            </a:r>
            <a:r>
              <a:rPr lang="en-ID" dirty="0" err="1"/>
              <a:t>fenomena</a:t>
            </a:r>
            <a:r>
              <a:rPr lang="en-ID" dirty="0"/>
              <a:t>, dan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model </a:t>
            </a:r>
            <a:r>
              <a:rPr lang="en-ID" dirty="0" err="1"/>
              <a:t>konseptual</a:t>
            </a:r>
            <a:r>
              <a:rPr lang="en-ID" dirty="0"/>
              <a:t>.</a:t>
            </a:r>
          </a:p>
          <a:p>
            <a:r>
              <a:rPr lang="en-US" dirty="0" err="1"/>
              <a:t>Buatkan</a:t>
            </a:r>
            <a:r>
              <a:rPr lang="en-US" dirty="0"/>
              <a:t> flowchart atau </a:t>
            </a:r>
            <a:r>
              <a:rPr lang="en-US" dirty="0" err="1"/>
              <a:t>alur</a:t>
            </a:r>
            <a:r>
              <a:rPr lang="en-US" dirty="0"/>
              <a:t> </a:t>
            </a:r>
            <a:r>
              <a:rPr lang="en-US" dirty="0" err="1"/>
              <a:t>kerngka</a:t>
            </a:r>
            <a:r>
              <a:rPr lang="en-US" dirty="0"/>
              <a:t> </a:t>
            </a:r>
            <a:r>
              <a:rPr lang="en-US" dirty="0" err="1"/>
              <a:t>pemikiran</a:t>
            </a:r>
            <a:r>
              <a:rPr lang="en-US" dirty="0"/>
              <a:t> </a:t>
            </a:r>
          </a:p>
          <a:p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pemikiran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teoretis</a:t>
            </a:r>
            <a:r>
              <a:rPr lang="en-US" dirty="0"/>
              <a:t> yang </a:t>
            </a:r>
            <a:r>
              <a:rPr lang="en-US" dirty="0" err="1"/>
              <a:t>relevan</a:t>
            </a:r>
            <a:r>
              <a:rPr lang="en-US" dirty="0"/>
              <a:t> dengan </a:t>
            </a:r>
            <a:r>
              <a:rPr lang="en-US" dirty="0" err="1"/>
              <a:t>penelitian</a:t>
            </a:r>
            <a:r>
              <a:rPr lang="en-US" dirty="0"/>
              <a:t> saudara</a:t>
            </a:r>
          </a:p>
          <a:p>
            <a:r>
              <a:rPr lang="en-ID" b="1" dirty="0"/>
              <a:t>Buat </a:t>
            </a:r>
            <a:r>
              <a:rPr lang="en-ID" b="1" dirty="0" err="1"/>
              <a:t>alur</a:t>
            </a:r>
            <a:r>
              <a:rPr lang="en-ID" b="1" dirty="0"/>
              <a:t> yang </a:t>
            </a:r>
            <a:r>
              <a:rPr lang="en-ID" b="1" dirty="0" err="1"/>
              <a:t>logis</a:t>
            </a:r>
            <a:r>
              <a:rPr lang="en-ID" b="1" dirty="0"/>
              <a:t> : </a:t>
            </a:r>
            <a:r>
              <a:rPr lang="en-ID" dirty="0" err="1"/>
              <a:t>Susun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sebab-akibat</a:t>
            </a:r>
            <a:r>
              <a:rPr lang="en-ID" dirty="0"/>
              <a:t>, </a:t>
            </a:r>
            <a:r>
              <a:rPr lang="en-ID" dirty="0" err="1"/>
              <a:t>Gambarkan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variable, </a:t>
            </a:r>
            <a:r>
              <a:rPr lang="en-ID" dirty="0" err="1"/>
              <a:t>tentukan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pengaruh</a:t>
            </a:r>
            <a:endParaRPr lang="en-ID" dirty="0"/>
          </a:p>
          <a:p>
            <a:r>
              <a:rPr lang="en-US" dirty="0"/>
              <a:t>Daru </a:t>
            </a:r>
            <a:r>
              <a:rPr lang="en-US" dirty="0" err="1"/>
              <a:t>gamabr</a:t>
            </a:r>
            <a:r>
              <a:rPr lang="en-US" dirty="0"/>
              <a:t> yang saudara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jelskan</a:t>
            </a:r>
            <a:r>
              <a:rPr lang="en-US" dirty="0"/>
              <a:t> </a:t>
            </a:r>
            <a:r>
              <a:rPr lang="en-US" dirty="0" err="1"/>
              <a:t>alur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dengan </a:t>
            </a:r>
            <a:r>
              <a:rPr lang="en-US" dirty="0" err="1"/>
              <a:t>sitematis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alurnya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3243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2765-F578-8F12-3712-5FD45296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III </a:t>
            </a:r>
            <a:r>
              <a:rPr lang="en-US" dirty="0" err="1"/>
              <a:t>Metodologi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05B7-0960-356A-BC9E-2FE575E32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4400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232A-52DE-73CE-38C0-9C8693A3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Kebutuhan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CDE0-3429-0E5E-2BE3-9AC217134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Dalam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saudara </a:t>
            </a:r>
            <a:r>
              <a:rPr lang="en-US" dirty="0" err="1"/>
              <a:t>tuliskan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dataset, </a:t>
            </a:r>
          </a:p>
          <a:p>
            <a:r>
              <a:rPr lang="en-US" dirty="0" err="1"/>
              <a:t>Uraiankan</a:t>
            </a:r>
            <a:r>
              <a:rPr lang="en-US" dirty="0"/>
              <a:t> </a:t>
            </a:r>
            <a:r>
              <a:rPr lang="en-US" dirty="0" err="1"/>
              <a:t>tentnag</a:t>
            </a:r>
            <a:r>
              <a:rPr lang="en-US" dirty="0"/>
              <a:t> dataset, data dan </a:t>
            </a:r>
            <a:r>
              <a:rPr lang="en-US" dirty="0" err="1"/>
              <a:t>sumber</a:t>
            </a:r>
            <a:r>
              <a:rPr lang="en-US" dirty="0"/>
              <a:t> data, </a:t>
            </a:r>
          </a:p>
          <a:p>
            <a:r>
              <a:rPr lang="en-US" dirty="0" err="1"/>
              <a:t>Atribut</a:t>
            </a:r>
            <a:r>
              <a:rPr lang="en-US" dirty="0"/>
              <a:t>, </a:t>
            </a:r>
            <a:r>
              <a:rPr lang="en-US" dirty="0" err="1"/>
              <a:t>fitur</a:t>
            </a:r>
            <a:r>
              <a:rPr lang="en-US" dirty="0"/>
              <a:t>, label, target</a:t>
            </a:r>
          </a:p>
          <a:p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dan Teknik sampling</a:t>
            </a:r>
          </a:p>
          <a:p>
            <a:r>
              <a:rPr lang="en-US" dirty="0"/>
              <a:t>Metode </a:t>
            </a:r>
            <a:r>
              <a:rPr lang="en-US" dirty="0" err="1"/>
              <a:t>pengumpulan</a:t>
            </a:r>
            <a:r>
              <a:rPr lang="en-US" dirty="0"/>
              <a:t> data </a:t>
            </a:r>
            <a:r>
              <a:rPr lang="en-US" dirty="0" err="1"/>
              <a:t>jelaskan</a:t>
            </a:r>
            <a:r>
              <a:rPr lang="en-US" dirty="0"/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22157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911F-8CA8-82AF-6E72-BAF7F5B0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6B03-A109-1EEA-3CFF-0F17CCF8C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" y="2012269"/>
            <a:ext cx="3766457" cy="3573689"/>
          </a:xfrm>
        </p:spPr>
        <p:txBody>
          <a:bodyPr>
            <a:normAutofit fontScale="77500" lnSpcReduction="20000"/>
          </a:bodyPr>
          <a:lstStyle/>
          <a:p>
            <a:r>
              <a:rPr lang="en-ID" b="1" dirty="0" err="1"/>
              <a:t>rancangan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umum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gambaran</a:t>
            </a:r>
            <a:r>
              <a:rPr lang="en-ID" dirty="0"/>
              <a:t> </a:t>
            </a:r>
            <a:r>
              <a:rPr lang="en-ID" dirty="0" err="1"/>
              <a:t>menyeluruh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dilakukan</a:t>
            </a:r>
            <a:endParaRPr lang="en-ID" dirty="0"/>
          </a:p>
          <a:p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flowchart. </a:t>
            </a:r>
            <a:r>
              <a:rPr lang="en-ID" dirty="0" err="1"/>
              <a:t>Rancangan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flowchart </a:t>
            </a:r>
            <a:r>
              <a:rPr lang="en-ID" dirty="0" err="1"/>
              <a:t>sebagai</a:t>
            </a:r>
            <a:r>
              <a:rPr lang="en-ID" dirty="0"/>
              <a:t> technical framework</a:t>
            </a:r>
          </a:p>
          <a:p>
            <a:r>
              <a:rPr lang="en-ID" dirty="0" err="1"/>
              <a:t>Jelaskan</a:t>
            </a:r>
            <a:r>
              <a:rPr lang="en-ID" dirty="0"/>
              <a:t> </a:t>
            </a:r>
            <a:r>
              <a:rPr lang="en-ID" dirty="0" err="1"/>
              <a:t>gamabr</a:t>
            </a:r>
            <a:r>
              <a:rPr lang="en-ID" dirty="0"/>
              <a:t> </a:t>
            </a:r>
            <a:r>
              <a:rPr lang="en-ID" dirty="0" err="1"/>
              <a:t>rancangan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saudara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 dan </a:t>
            </a:r>
            <a:r>
              <a:rPr lang="en-ID" dirty="0" err="1"/>
              <a:t>jelas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301B3-59DC-EDC6-6443-497CE1DA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28" y="1513114"/>
            <a:ext cx="6449785" cy="4572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3AE411C-BFDF-9A64-D0E3-66F730A525E1}"/>
              </a:ext>
            </a:extLst>
          </p:cNvPr>
          <p:cNvSpPr/>
          <p:nvPr/>
        </p:nvSpPr>
        <p:spPr>
          <a:xfrm>
            <a:off x="4354286" y="2754086"/>
            <a:ext cx="587828" cy="424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1551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F0D9E4-CD97-A7B3-BBE9-C0AC55AACA50}"/>
              </a:ext>
            </a:extLst>
          </p:cNvPr>
          <p:cNvSpPr txBox="1"/>
          <p:nvPr/>
        </p:nvSpPr>
        <p:spPr>
          <a:xfrm>
            <a:off x="5976257" y="1045028"/>
            <a:ext cx="3886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Pembangunan Model</a:t>
            </a:r>
            <a:endParaRPr lang="en-ID" dirty="0"/>
          </a:p>
          <a:p>
            <a:pPr lvl="1"/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(CNN, RNN, Transformer)</a:t>
            </a:r>
          </a:p>
          <a:p>
            <a:pPr lvl="1"/>
            <a:r>
              <a:rPr lang="en-ID" dirty="0" err="1"/>
              <a:t>Tentukan</a:t>
            </a:r>
            <a:r>
              <a:rPr lang="en-ID" dirty="0"/>
              <a:t> hyperparameter </a:t>
            </a:r>
            <a:r>
              <a:rPr lang="en-ID" dirty="0" err="1"/>
              <a:t>awal</a:t>
            </a:r>
            <a:endParaRPr lang="en-ID" dirty="0"/>
          </a:p>
          <a:p>
            <a:pPr lvl="1"/>
            <a:r>
              <a:rPr lang="en-ID" dirty="0" err="1"/>
              <a:t>Inisialisasi</a:t>
            </a:r>
            <a:r>
              <a:rPr lang="en-ID" dirty="0"/>
              <a:t> weights</a:t>
            </a:r>
          </a:p>
          <a:p>
            <a:r>
              <a:rPr lang="en-ID" b="1" dirty="0"/>
              <a:t>Training &amp; </a:t>
            </a:r>
            <a:r>
              <a:rPr lang="en-ID" b="1" dirty="0" err="1"/>
              <a:t>Evaluasi</a:t>
            </a:r>
            <a:endParaRPr lang="en-ID" dirty="0"/>
          </a:p>
          <a:p>
            <a:pPr lvl="1"/>
            <a:r>
              <a:rPr lang="en-ID" dirty="0"/>
              <a:t>Monitor loss &amp; metrics</a:t>
            </a:r>
          </a:p>
          <a:p>
            <a:pPr lvl="1"/>
            <a:r>
              <a:rPr lang="en-ID" dirty="0" err="1"/>
              <a:t>Gunakan</a:t>
            </a:r>
            <a:r>
              <a:rPr lang="en-ID" dirty="0"/>
              <a:t> early stopping</a:t>
            </a:r>
          </a:p>
          <a:p>
            <a:pPr lvl="1"/>
            <a:r>
              <a:rPr lang="en-ID" dirty="0" err="1"/>
              <a:t>Lakukan</a:t>
            </a:r>
            <a:r>
              <a:rPr lang="en-ID" dirty="0"/>
              <a:t> cross-validation</a:t>
            </a:r>
          </a:p>
          <a:p>
            <a:r>
              <a:rPr lang="en-ID" b="1" dirty="0" err="1"/>
              <a:t>Optimasi</a:t>
            </a:r>
            <a:endParaRPr lang="en-ID" dirty="0"/>
          </a:p>
          <a:p>
            <a:pPr lvl="1"/>
            <a:r>
              <a:rPr lang="en-ID" dirty="0"/>
              <a:t>Hyperparameter tuning</a:t>
            </a:r>
          </a:p>
          <a:p>
            <a:pPr lvl="1"/>
            <a:r>
              <a:rPr lang="en-ID" dirty="0" err="1"/>
              <a:t>Arsitektur</a:t>
            </a:r>
            <a:r>
              <a:rPr lang="en-ID" dirty="0"/>
              <a:t> modification</a:t>
            </a:r>
          </a:p>
          <a:p>
            <a:pPr lvl="1"/>
            <a:r>
              <a:rPr lang="en-ID" dirty="0"/>
              <a:t>Transfer learning</a:t>
            </a:r>
          </a:p>
          <a:p>
            <a:r>
              <a:rPr lang="en-ID" b="1" dirty="0"/>
              <a:t>Testing &amp; </a:t>
            </a:r>
            <a:r>
              <a:rPr lang="en-ID" b="1" dirty="0" err="1"/>
              <a:t>Analisis</a:t>
            </a:r>
            <a:endParaRPr lang="en-ID" dirty="0"/>
          </a:p>
          <a:p>
            <a:pPr lvl="1"/>
            <a:r>
              <a:rPr lang="en-ID" dirty="0" err="1"/>
              <a:t>Evaluasi</a:t>
            </a:r>
            <a:r>
              <a:rPr lang="en-ID" dirty="0"/>
              <a:t> pada test set</a:t>
            </a:r>
          </a:p>
          <a:p>
            <a:pPr lvl="1"/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model</a:t>
            </a:r>
          </a:p>
          <a:p>
            <a:pPr lvl="1"/>
            <a:r>
              <a:rPr lang="en-ID" dirty="0" err="1"/>
              <a:t>Interpretasi</a:t>
            </a:r>
            <a:r>
              <a:rPr lang="en-ID" dirty="0"/>
              <a:t> </a:t>
            </a:r>
            <a:r>
              <a:rPr lang="en-ID" dirty="0" err="1"/>
              <a:t>hasil</a:t>
            </a:r>
            <a:endParaRPr lang="en-ID" dirty="0"/>
          </a:p>
          <a:p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2D88B-6383-B389-A5BD-670B6BE1F611}"/>
              </a:ext>
            </a:extLst>
          </p:cNvPr>
          <p:cNvSpPr txBox="1"/>
          <p:nvPr/>
        </p:nvSpPr>
        <p:spPr>
          <a:xfrm>
            <a:off x="990600" y="1317171"/>
            <a:ext cx="5105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Studi </a:t>
            </a:r>
            <a:r>
              <a:rPr lang="en-ID" b="1" dirty="0" err="1"/>
              <a:t>Literatur</a:t>
            </a:r>
            <a:endParaRPr lang="en-ID" dirty="0"/>
          </a:p>
          <a:p>
            <a:pPr lvl="1"/>
            <a:r>
              <a:rPr lang="en-ID" dirty="0" err="1"/>
              <a:t>Identifikasi</a:t>
            </a:r>
            <a:r>
              <a:rPr lang="en-ID" dirty="0"/>
              <a:t> gap </a:t>
            </a:r>
            <a:r>
              <a:rPr lang="en-ID" dirty="0" err="1"/>
              <a:t>penelitian</a:t>
            </a:r>
            <a:endParaRPr lang="en-ID" dirty="0"/>
          </a:p>
          <a:p>
            <a:pPr lvl="1"/>
            <a:r>
              <a:rPr lang="en-ID" dirty="0" err="1"/>
              <a:t>Pelajari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state-of-the-art</a:t>
            </a:r>
          </a:p>
          <a:p>
            <a:pPr lvl="1"/>
            <a:r>
              <a:rPr lang="en-ID" dirty="0" err="1"/>
              <a:t>Tentukan</a:t>
            </a:r>
            <a:r>
              <a:rPr lang="en-ID" dirty="0"/>
              <a:t> baseline model</a:t>
            </a:r>
          </a:p>
          <a:p>
            <a:r>
              <a:rPr lang="en-ID" b="1" dirty="0" err="1"/>
              <a:t>Persiapan</a:t>
            </a:r>
            <a:r>
              <a:rPr lang="en-ID" b="1" dirty="0"/>
              <a:t> Dataset</a:t>
            </a:r>
            <a:endParaRPr lang="en-ID" dirty="0"/>
          </a:p>
          <a:p>
            <a:pPr lvl="1"/>
            <a:r>
              <a:rPr lang="en-ID" dirty="0" err="1"/>
              <a:t>Kumpulkan</a:t>
            </a:r>
            <a:r>
              <a:rPr lang="en-ID" dirty="0"/>
              <a:t> data yang </a:t>
            </a:r>
            <a:r>
              <a:rPr lang="en-ID" dirty="0" err="1"/>
              <a:t>relevan</a:t>
            </a:r>
            <a:endParaRPr lang="en-ID" dirty="0"/>
          </a:p>
          <a:p>
            <a:pPr lvl="1"/>
            <a:r>
              <a:rPr lang="en-ID" dirty="0" err="1"/>
              <a:t>Lakukan</a:t>
            </a:r>
            <a:r>
              <a:rPr lang="en-ID" dirty="0"/>
              <a:t> data </a:t>
            </a:r>
            <a:r>
              <a:rPr lang="en-ID" dirty="0" err="1"/>
              <a:t>labeling</a:t>
            </a:r>
            <a:endParaRPr lang="en-ID" dirty="0"/>
          </a:p>
          <a:p>
            <a:pPr lvl="1"/>
            <a:r>
              <a:rPr lang="en-ID" dirty="0"/>
              <a:t>Split data: training/validation/test</a:t>
            </a:r>
          </a:p>
          <a:p>
            <a:r>
              <a:rPr lang="en-ID" b="1" dirty="0"/>
              <a:t>Preprocessing</a:t>
            </a:r>
            <a:endParaRPr lang="en-ID" dirty="0"/>
          </a:p>
          <a:p>
            <a:pPr lvl="1"/>
            <a:r>
              <a:rPr lang="en-ID" dirty="0" err="1"/>
              <a:t>Normalisasi</a:t>
            </a:r>
            <a:r>
              <a:rPr lang="en-ID" dirty="0"/>
              <a:t> &amp; scaling</a:t>
            </a:r>
          </a:p>
          <a:p>
            <a:pPr lvl="1"/>
            <a:r>
              <a:rPr lang="en-ID" dirty="0"/>
              <a:t>Data augmentation</a:t>
            </a:r>
          </a:p>
          <a:p>
            <a:pPr lvl="1"/>
            <a:r>
              <a:rPr lang="en-ID" dirty="0"/>
              <a:t>Feature engineering</a:t>
            </a:r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16631-F366-6675-FE32-91AF802418D3}"/>
              </a:ext>
            </a:extLst>
          </p:cNvPr>
          <p:cNvSpPr txBox="1"/>
          <p:nvPr/>
        </p:nvSpPr>
        <p:spPr>
          <a:xfrm>
            <a:off x="740229" y="553999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Rancangan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6501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5CEECB-B052-7BE4-01EC-20747354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285" y="587828"/>
            <a:ext cx="4034971" cy="6052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17ADC5-9120-0457-8384-5E5AAB889019}"/>
              </a:ext>
            </a:extLst>
          </p:cNvPr>
          <p:cNvSpPr txBox="1"/>
          <p:nvPr/>
        </p:nvSpPr>
        <p:spPr>
          <a:xfrm>
            <a:off x="653143" y="2558143"/>
            <a:ext cx="407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model </a:t>
            </a:r>
            <a:r>
              <a:rPr lang="en-US" dirty="0" err="1"/>
              <a:t>Rancangan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UMum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17704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435F-73CA-46C6-F02E-A1303D41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Teknik </a:t>
            </a:r>
            <a:r>
              <a:rPr lang="en-US" dirty="0" err="1"/>
              <a:t>Analisis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5220-8029-4C76-D449-628FAD130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Merupakan</a:t>
            </a:r>
            <a:r>
              <a:rPr lang="en-ID" dirty="0"/>
              <a:t> proses </a:t>
            </a:r>
            <a:r>
              <a:rPr lang="en-ID" dirty="0" err="1"/>
              <a:t>sistematis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mengolah</a:t>
            </a:r>
            <a:r>
              <a:rPr lang="en-ID" dirty="0"/>
              <a:t>, </a:t>
            </a:r>
            <a:r>
              <a:rPr lang="en-ID" dirty="0" err="1"/>
              <a:t>mengorganisir</a:t>
            </a:r>
            <a:r>
              <a:rPr lang="en-ID" dirty="0"/>
              <a:t>, dan </a:t>
            </a:r>
            <a:r>
              <a:rPr lang="en-ID" dirty="0" err="1"/>
              <a:t>menginterpretasi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r>
              <a:rPr lang="en-US" dirty="0"/>
              <a:t>Metode </a:t>
            </a:r>
            <a:r>
              <a:rPr lang="en-US" dirty="0" err="1"/>
              <a:t>analisis</a:t>
            </a:r>
            <a:r>
              <a:rPr lang="en-US" dirty="0"/>
              <a:t> data </a:t>
            </a:r>
            <a:r>
              <a:rPr lang="en-US" dirty="0" err="1"/>
              <a:t>sesuaikan</a:t>
            </a:r>
            <a:r>
              <a:rPr lang="en-US" dirty="0"/>
              <a:t> dengan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  <a:p>
            <a:r>
              <a:rPr lang="en-US" dirty="0" err="1"/>
              <a:t>Tuliskan</a:t>
            </a:r>
            <a:r>
              <a:rPr lang="en-US" dirty="0"/>
              <a:t> model </a:t>
            </a:r>
            <a:r>
              <a:rPr lang="en-US" dirty="0" err="1"/>
              <a:t>matematikanya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beri</a:t>
            </a:r>
            <a:r>
              <a:rPr lang="en-US" dirty="0"/>
              <a:t> </a:t>
            </a:r>
            <a:r>
              <a:rPr lang="en-US" dirty="0" err="1"/>
              <a:t>keteangan</a:t>
            </a:r>
            <a:r>
              <a:rPr lang="en-US" dirty="0"/>
              <a:t> symbol-</a:t>
            </a:r>
            <a:r>
              <a:rPr lang="en-US" dirty="0" err="1"/>
              <a:t>simbul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endParaRPr lang="en-ID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BD593A-8801-3B81-C473-D5B161EAE0AD}"/>
                  </a:ext>
                </a:extLst>
              </p14:cNvPr>
              <p14:cNvContentPartPr/>
              <p14:nvPr/>
            </p14:nvContentPartPr>
            <p14:xfrm>
              <a:off x="5500440" y="4371840"/>
              <a:ext cx="3129840" cy="1212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BD593A-8801-3B81-C473-D5B161EAE0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1080" y="4362480"/>
                <a:ext cx="3148560" cy="12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77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E854-9A41-EA0C-D361-7D7B13A6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Evaluasi</a:t>
            </a:r>
            <a:r>
              <a:rPr lang="en-US" dirty="0"/>
              <a:t> Model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6C94E-CFA0-439D-B939-826F903B7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b="1" dirty="0" err="1"/>
              <a:t>Evaluasi</a:t>
            </a:r>
            <a:r>
              <a:rPr lang="en-ID" b="1" dirty="0"/>
              <a:t> model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menilai</a:t>
            </a:r>
            <a:r>
              <a:rPr lang="en-ID" b="1" dirty="0"/>
              <a:t> </a:t>
            </a:r>
            <a:r>
              <a:rPr lang="en-ID" b="1" dirty="0" err="1"/>
              <a:t>kinerja</a:t>
            </a:r>
            <a:r>
              <a:rPr lang="en-ID" b="1" dirty="0"/>
              <a:t> model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dilatih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mengklasifikasikan</a:t>
            </a:r>
            <a:r>
              <a:rPr lang="en-ID" dirty="0"/>
              <a:t> data</a:t>
            </a:r>
          </a:p>
          <a:p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model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 err="1"/>
              <a:t>Mengukur</a:t>
            </a:r>
            <a:r>
              <a:rPr lang="en-ID" b="1" dirty="0"/>
              <a:t> </a:t>
            </a:r>
            <a:r>
              <a:rPr lang="en-ID" b="1" dirty="0" err="1"/>
              <a:t>akurasi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error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: </a:t>
            </a:r>
            <a:r>
              <a:rPr lang="en-ID" i="1" dirty="0"/>
              <a:t>accuracy, precision, recall, F1-score, confusion matrix</a:t>
            </a:r>
            <a:endParaRPr lang="en-ID" dirty="0"/>
          </a:p>
          <a:p>
            <a:pPr lvl="1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regresi</a:t>
            </a:r>
            <a:r>
              <a:rPr lang="en-ID" dirty="0"/>
              <a:t>: </a:t>
            </a:r>
            <a:r>
              <a:rPr lang="en-ID" i="1" dirty="0"/>
              <a:t>MAE (Mean Absolute Error), RMSE (Root Mean Square Error), R²</a:t>
            </a:r>
            <a:endParaRPr lang="en-ID" dirty="0"/>
          </a:p>
          <a:p>
            <a:r>
              <a:rPr lang="en-ID" b="1" dirty="0" err="1"/>
              <a:t>Membandingkan</a:t>
            </a:r>
            <a:r>
              <a:rPr lang="en-ID" b="1" dirty="0"/>
              <a:t> </a:t>
            </a:r>
            <a:r>
              <a:rPr lang="en-ID" b="1" dirty="0" err="1"/>
              <a:t>performa</a:t>
            </a:r>
            <a:r>
              <a:rPr lang="en-ID" b="1" dirty="0"/>
              <a:t> </a:t>
            </a:r>
            <a:r>
              <a:rPr lang="en-ID" b="1" dirty="0" err="1"/>
              <a:t>antar</a:t>
            </a:r>
            <a:r>
              <a:rPr lang="en-ID" b="1" dirty="0"/>
              <a:t> model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baseline.</a:t>
            </a:r>
          </a:p>
          <a:p>
            <a:r>
              <a:rPr lang="en-ID" b="1" dirty="0" err="1"/>
              <a:t>Analisis</a:t>
            </a:r>
            <a:r>
              <a:rPr lang="en-ID" b="1" dirty="0"/>
              <a:t> </a:t>
            </a:r>
            <a:r>
              <a:rPr lang="en-ID" b="1" dirty="0" err="1"/>
              <a:t>kesalahan</a:t>
            </a:r>
            <a:r>
              <a:rPr lang="en-ID" b="1" dirty="0"/>
              <a:t> (error analysis)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yang salah.</a:t>
            </a:r>
          </a:p>
          <a:p>
            <a:r>
              <a:rPr lang="en-ID" b="1" dirty="0" err="1"/>
              <a:t>Visualisasi</a:t>
            </a:r>
            <a:r>
              <a:rPr lang="en-ID" b="1" dirty="0"/>
              <a:t> </a:t>
            </a:r>
            <a:r>
              <a:rPr lang="en-ID" b="1" dirty="0" err="1"/>
              <a:t>hasil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grafik</a:t>
            </a:r>
            <a:r>
              <a:rPr lang="en-ID" dirty="0"/>
              <a:t> loss, </a:t>
            </a:r>
            <a:r>
              <a:rPr lang="en-ID" dirty="0" err="1"/>
              <a:t>akurasi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kurva</a:t>
            </a:r>
            <a:r>
              <a:rPr lang="en-ID" dirty="0"/>
              <a:t> ROC.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46886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77B0-E2BF-7BA3-15DF-26FE90EA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Model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3800A-E0F1-439A-BDD5-ADB29EA78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Tuliskan</a:t>
            </a:r>
            <a:r>
              <a:rPr lang="en-US" dirty="0"/>
              <a:t> model </a:t>
            </a:r>
            <a:r>
              <a:rPr lang="en-US" dirty="0" err="1"/>
              <a:t>matematikanya</a:t>
            </a:r>
            <a:r>
              <a:rPr lang="en-US" dirty="0"/>
              <a:t>  dan </a:t>
            </a:r>
            <a:r>
              <a:rPr lang="en-US" dirty="0" err="1"/>
              <a:t>beri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secukupnya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missal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atau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r>
              <a:rPr lang="en-ID" dirty="0"/>
              <a:t>Tulis </a:t>
            </a:r>
            <a:r>
              <a:rPr lang="en-ID" dirty="0" err="1"/>
              <a:t>metrik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sesui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saudara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32725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60A4-A1E5-27A8-A25F-5FA135F0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Daftar Pustaka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81FD-03E9-5288-F105-DAFA4839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Daftar Pustaka </a:t>
            </a:r>
            <a:r>
              <a:rPr lang="en-US" dirty="0" err="1"/>
              <a:t>ditulis</a:t>
            </a:r>
            <a:r>
              <a:rPr lang="en-US" dirty="0"/>
              <a:t> dengan </a:t>
            </a:r>
            <a:r>
              <a:rPr lang="en-US" dirty="0" err="1"/>
              <a:t>mengacu</a:t>
            </a:r>
            <a:r>
              <a:rPr lang="en-US" dirty="0"/>
              <a:t> pada APA 7th Style, Mendeley</a:t>
            </a:r>
          </a:p>
          <a:p>
            <a:r>
              <a:rPr lang="en-US" dirty="0"/>
              <a:t>Yang </a:t>
            </a:r>
            <a:r>
              <a:rPr lang="en-US" dirty="0" err="1"/>
              <a:t>ditulis</a:t>
            </a:r>
            <a:r>
              <a:rPr lang="en-US" dirty="0"/>
              <a:t> di daftar Pustaka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sitasi</a:t>
            </a:r>
            <a:r>
              <a:rPr lang="en-US" dirty="0"/>
              <a:t> pada body text, </a:t>
            </a:r>
            <a:r>
              <a:rPr lang="en-US" dirty="0" err="1"/>
              <a:t>begitu</a:t>
            </a:r>
            <a:r>
              <a:rPr lang="en-US" dirty="0"/>
              <a:t> pula yang </a:t>
            </a:r>
            <a:r>
              <a:rPr lang="en-US" dirty="0" err="1"/>
              <a:t>disitasi</a:t>
            </a:r>
            <a:r>
              <a:rPr lang="en-US" dirty="0"/>
              <a:t> di body </a:t>
            </a:r>
            <a:r>
              <a:rPr lang="en-US" dirty="0" err="1"/>
              <a:t>tet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Daftar Pustaka</a:t>
            </a:r>
          </a:p>
          <a:p>
            <a:r>
              <a:rPr lang="en-US" dirty="0"/>
              <a:t>Daftar Pustaka proposal minimal 40 daftar Pustaka</a:t>
            </a:r>
          </a:p>
        </p:txBody>
      </p:sp>
    </p:spTree>
    <p:extLst>
      <p:ext uri="{BB962C8B-B14F-4D97-AF65-F5344CB8AC3E}">
        <p14:creationId xmlns:p14="http://schemas.microsoft.com/office/powerpoint/2010/main" val="1193012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0688-8CE9-5507-44AF-66853268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593" y="2017259"/>
            <a:ext cx="6744607" cy="1500187"/>
          </a:xfrm>
        </p:spPr>
        <p:txBody>
          <a:bodyPr/>
          <a:lstStyle/>
          <a:p>
            <a:r>
              <a:rPr lang="en-US" dirty="0"/>
              <a:t>Terima Kasih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62B0B-96CC-2DBD-E01E-109EA871A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936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1567</Words>
  <Application>Microsoft Office PowerPoint</Application>
  <PresentationFormat>Widescreen</PresentationFormat>
  <Paragraphs>180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Tip and trick Penyusunan Proposal Penelitian</vt:lpstr>
      <vt:lpstr>Pengantar</vt:lpstr>
      <vt:lpstr>Proses dan Prosedur Pengajuan Proposal</vt:lpstr>
      <vt:lpstr>PowerPoint Presentation</vt:lpstr>
      <vt:lpstr>Outline Proposal (Terdiri dari 3 BAB) </vt:lpstr>
      <vt:lpstr>ABSTRAK</vt:lpstr>
      <vt:lpstr>Latar Belakang </vt:lpstr>
      <vt:lpstr>Identifikasi Masalah</vt:lpstr>
      <vt:lpstr>Ruang Lingkup</vt:lpstr>
      <vt:lpstr>Rumusan Masalah</vt:lpstr>
      <vt:lpstr>Tujuan dan Manfaat Penelitian</vt:lpstr>
      <vt:lpstr>Sistematikan Penulisan</vt:lpstr>
      <vt:lpstr>BAB II landasan Teori dan Kerangka Pemikiran</vt:lpstr>
      <vt:lpstr>Tinjauan Pustaka </vt:lpstr>
      <vt:lpstr>Landasan Teori</vt:lpstr>
      <vt:lpstr>Kerangka Pemikiran</vt:lpstr>
      <vt:lpstr>Bab III Metodologi</vt:lpstr>
      <vt:lpstr>Analisis Kebutuhan</vt:lpstr>
      <vt:lpstr>Perancangan Penelitian</vt:lpstr>
      <vt:lpstr>PowerPoint Presentation</vt:lpstr>
      <vt:lpstr>PowerPoint Presentation</vt:lpstr>
      <vt:lpstr>Teknik Analisis Data</vt:lpstr>
      <vt:lpstr>Evaluasi Model</vt:lpstr>
      <vt:lpstr>Tip Menulis Evaluasi Model</vt:lpstr>
      <vt:lpstr>Daftar Pustaka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dosen02711@unpam.ac.id</dc:creator>
  <cp:lastModifiedBy>dosen02711@unpam.ac.id</cp:lastModifiedBy>
  <cp:revision>10</cp:revision>
  <dcterms:created xsi:type="dcterms:W3CDTF">2025-10-20T00:21:59Z</dcterms:created>
  <dcterms:modified xsi:type="dcterms:W3CDTF">2025-10-25T07:58:36Z</dcterms:modified>
</cp:coreProperties>
</file>