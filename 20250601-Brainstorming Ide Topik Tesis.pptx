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3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79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33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20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2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1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21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6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7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3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3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0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F616F-339F-2BF6-65F4-A1707FFFB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 sz="5000"/>
              <a:t>Brainstorming Ide </a:t>
            </a:r>
            <a:r>
              <a:rPr lang="en-US" sz="5000" err="1"/>
              <a:t>Topik</a:t>
            </a:r>
            <a:r>
              <a:rPr lang="en-US" sz="5000"/>
              <a:t> Tesis</a:t>
            </a:r>
            <a:endParaRPr lang="id-ID" sz="5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BF8D2-6B34-809A-CF7C-CB4594564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US" dirty="0"/>
              <a:t>01 Juni 2025</a:t>
            </a:r>
            <a:endParaRPr lang="id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F553135B-E549-308E-A243-1C568BB71D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917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2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48AF-65A2-9E63-BD3D-E3E1A6F4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71209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B949-4FB1-920B-8B04-2507A4556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31523"/>
            <a:ext cx="10691265" cy="4230365"/>
          </a:xfrm>
        </p:spPr>
        <p:txBody>
          <a:bodyPr/>
          <a:lstStyle/>
          <a:p>
            <a:r>
              <a:rPr lang="en-US" dirty="0"/>
              <a:t>Review </a:t>
            </a:r>
            <a:r>
              <a:rPr lang="en-US" dirty="0" err="1"/>
              <a:t>usulan</a:t>
            </a:r>
            <a:r>
              <a:rPr lang="en-US" dirty="0"/>
              <a:t> </a:t>
            </a:r>
            <a:r>
              <a:rPr lang="en-US" dirty="0" err="1"/>
              <a:t>topik</a:t>
            </a:r>
            <a:endParaRPr lang="en-US" dirty="0"/>
          </a:p>
          <a:p>
            <a:r>
              <a:rPr lang="en-US" dirty="0"/>
              <a:t>Ide </a:t>
            </a:r>
            <a:r>
              <a:rPr lang="en-US" dirty="0" err="1"/>
              <a:t>topik</a:t>
            </a:r>
            <a:endParaRPr lang="en-US" dirty="0"/>
          </a:p>
          <a:p>
            <a:r>
              <a:rPr lang="en-US" dirty="0"/>
              <a:t>Usulan </a:t>
            </a:r>
            <a:r>
              <a:rPr lang="en-US" dirty="0" err="1"/>
              <a:t>topik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87762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44DF2-F89C-7BB6-C5DC-F5F5B6B5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/>
              <a:t>Review </a:t>
            </a:r>
            <a:r>
              <a:rPr lang="en-US" dirty="0" err="1"/>
              <a:t>usulan</a:t>
            </a:r>
            <a:endParaRPr lang="id-ID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1C5F8-74E9-5BE6-3B93-B0885431E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1877439"/>
            <a:ext cx="7871156" cy="408444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d-ID" sz="1800" dirty="0"/>
              <a:t>"Pembuatan Dashboard Informasi Iklim Sederhana Menggunakan Data Historis BMKG untuk Wilayah Serang“</a:t>
            </a:r>
            <a:r>
              <a:rPr lang="en-US" sz="1800" dirty="0"/>
              <a:t> : </a:t>
            </a:r>
            <a:r>
              <a:rPr lang="en-US" sz="1800" b="1" dirty="0" err="1"/>
              <a:t>Memungkinkan</a:t>
            </a:r>
            <a:r>
              <a:rPr lang="en-US" sz="1800" dirty="0"/>
              <a:t>,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b="1" dirty="0" err="1"/>
              <a:t>praktis</a:t>
            </a:r>
            <a:r>
              <a:rPr lang="en-US" sz="1800" dirty="0"/>
              <a:t>, </a:t>
            </a:r>
            <a:r>
              <a:rPr lang="en-US" sz="1800" dirty="0" err="1"/>
              <a:t>namun</a:t>
            </a:r>
            <a:r>
              <a:rPr lang="en-US" sz="1800" dirty="0"/>
              <a:t> </a:t>
            </a:r>
            <a:r>
              <a:rPr lang="en-US" sz="1800" dirty="0" err="1"/>
              <a:t>perlu</a:t>
            </a:r>
            <a:r>
              <a:rPr lang="en-US" sz="1800" dirty="0"/>
              <a:t> </a:t>
            </a:r>
            <a:r>
              <a:rPr lang="en-US" sz="1800" b="1" dirty="0" err="1"/>
              <a:t>pendalaman</a:t>
            </a:r>
            <a:r>
              <a:rPr lang="en-US" sz="1800" dirty="0"/>
              <a:t> </a:t>
            </a:r>
            <a:r>
              <a:rPr lang="en-US" sz="1800" dirty="0" err="1"/>
              <a:t>khusus</a:t>
            </a:r>
            <a:r>
              <a:rPr lang="en-US" sz="1800" dirty="0"/>
              <a:t> </a:t>
            </a:r>
            <a:r>
              <a:rPr lang="en-US" sz="1800" dirty="0" err="1"/>
              <a:t>terkait</a:t>
            </a:r>
            <a:r>
              <a:rPr lang="en-US" sz="1800" dirty="0"/>
              <a:t> </a:t>
            </a:r>
            <a:r>
              <a:rPr lang="en-US" sz="1800" b="1" dirty="0"/>
              <a:t>UI/UX</a:t>
            </a:r>
            <a:r>
              <a:rPr lang="en-US" sz="18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“</a:t>
            </a:r>
            <a:r>
              <a:rPr lang="id-ID" sz="1800" dirty="0"/>
              <a:t>Metode Dekomposisi Dalam Meramalkan Curah Hujan di Kota Serang</a:t>
            </a:r>
            <a:r>
              <a:rPr lang="en-US" sz="1800" dirty="0"/>
              <a:t>” &amp; “</a:t>
            </a:r>
            <a:r>
              <a:rPr lang="en-US" sz="1800" dirty="0" err="1"/>
              <a:t>Analisis</a:t>
            </a:r>
            <a:r>
              <a:rPr lang="en-US" sz="1800" dirty="0"/>
              <a:t> Tren dan Pola </a:t>
            </a:r>
            <a:r>
              <a:rPr lang="en-US" sz="1800" dirty="0" err="1"/>
              <a:t>Musiman</a:t>
            </a:r>
            <a:r>
              <a:rPr lang="en-US" sz="1800" dirty="0"/>
              <a:t> Curah </a:t>
            </a:r>
            <a:r>
              <a:rPr lang="en-US" sz="1800" dirty="0" err="1"/>
              <a:t>Hujan</a:t>
            </a:r>
            <a:r>
              <a:rPr lang="en-US" sz="1800" dirty="0"/>
              <a:t> di Wilayah </a:t>
            </a:r>
            <a:r>
              <a:rPr lang="en-US" sz="1800" dirty="0" err="1"/>
              <a:t>Serang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Metode Time Series Decomposition”: </a:t>
            </a:r>
            <a:r>
              <a:rPr lang="en-US" sz="1800" b="1" dirty="0" err="1"/>
              <a:t>Memungkinkan</a:t>
            </a:r>
            <a:r>
              <a:rPr lang="en-US" sz="1800" dirty="0"/>
              <a:t>, </a:t>
            </a:r>
            <a:r>
              <a:rPr lang="en-US" sz="1800" b="1" dirty="0" err="1"/>
              <a:t>umum</a:t>
            </a:r>
            <a:r>
              <a:rPr lang="en-US" sz="1800" dirty="0"/>
              <a:t> </a:t>
            </a:r>
            <a:r>
              <a:rPr lang="en-US" sz="1800" dirty="0" err="1"/>
              <a:t>dipakai</a:t>
            </a:r>
            <a:r>
              <a:rPr lang="en-US" sz="1800" dirty="0"/>
              <a:t>.</a:t>
            </a:r>
          </a:p>
          <a:p>
            <a:pPr>
              <a:lnSpc>
                <a:spcPct val="100000"/>
              </a:lnSpc>
            </a:pPr>
            <a:r>
              <a:rPr lang="id-ID" sz="1800" dirty="0"/>
              <a:t>"Penggunaan Algoritma Clustering K-Means untuk Analisis Tren Curah Hujan di Wilayah Serang, Banten“</a:t>
            </a:r>
            <a:r>
              <a:rPr lang="en-US" sz="1800" dirty="0"/>
              <a:t>: </a:t>
            </a:r>
            <a:r>
              <a:rPr lang="en-US" sz="1800" b="1" dirty="0" err="1"/>
              <a:t>Memungkinkan</a:t>
            </a:r>
            <a:r>
              <a:rPr lang="en-US" sz="1800" dirty="0"/>
              <a:t>, </a:t>
            </a:r>
            <a:r>
              <a:rPr lang="en-US" sz="1800" b="1" dirty="0" err="1"/>
              <a:t>praktis</a:t>
            </a:r>
            <a:r>
              <a:rPr lang="en-US" sz="1800" dirty="0"/>
              <a:t>, </a:t>
            </a:r>
            <a:r>
              <a:rPr lang="en-US" sz="1800" dirty="0" err="1"/>
              <a:t>namun</a:t>
            </a:r>
            <a:r>
              <a:rPr lang="en-US" sz="1800" dirty="0"/>
              <a:t> </a:t>
            </a:r>
            <a:r>
              <a:rPr lang="en-US" sz="1800" b="1" dirty="0" err="1"/>
              <a:t>terlalu</a:t>
            </a:r>
            <a:r>
              <a:rPr lang="en-US" sz="1800" b="1" dirty="0"/>
              <a:t> </a:t>
            </a:r>
            <a:r>
              <a:rPr lang="en-US" sz="1800" b="1" dirty="0" err="1"/>
              <a:t>singkat</a:t>
            </a:r>
            <a:r>
              <a:rPr lang="en-US" sz="1800" dirty="0"/>
              <a:t> untuk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dirty="0" err="1"/>
              <a:t>tesis</a:t>
            </a:r>
            <a:r>
              <a:rPr lang="en-US" sz="1800" dirty="0"/>
              <a:t> (</a:t>
            </a:r>
            <a:r>
              <a:rPr lang="en-US" sz="1800" dirty="0" err="1"/>
              <a:t>bisa</a:t>
            </a:r>
            <a:r>
              <a:rPr lang="en-US" sz="1800" dirty="0"/>
              <a:t> </a:t>
            </a:r>
            <a:r>
              <a:rPr lang="en-US" sz="1800" dirty="0" err="1"/>
              <a:t>digunakan</a:t>
            </a:r>
            <a:r>
              <a:rPr lang="en-US" sz="1800" dirty="0"/>
              <a:t> untuk </a:t>
            </a:r>
            <a:r>
              <a:rPr lang="en-US" sz="1800" dirty="0" err="1"/>
              <a:t>tugas</a:t>
            </a:r>
            <a:r>
              <a:rPr lang="en-US" sz="1800" dirty="0"/>
              <a:t> </a:t>
            </a:r>
            <a:r>
              <a:rPr lang="en-US" sz="1800" dirty="0" err="1"/>
              <a:t>kuliah</a:t>
            </a:r>
            <a:r>
              <a:rPr lang="en-US" sz="1800" dirty="0"/>
              <a:t>). – Akan </a:t>
            </a:r>
            <a:r>
              <a:rPr lang="en-US" sz="1800" dirty="0" err="1"/>
              <a:t>ada</a:t>
            </a:r>
            <a:r>
              <a:rPr lang="en-US" sz="1800" dirty="0"/>
              <a:t> </a:t>
            </a:r>
            <a:r>
              <a:rPr lang="en-US" sz="1800" dirty="0" err="1"/>
              <a:t>usulan</a:t>
            </a:r>
            <a:r>
              <a:rPr lang="en-US" sz="1800" dirty="0"/>
              <a:t> </a:t>
            </a:r>
            <a:r>
              <a:rPr lang="en-US" sz="1800" b="1" dirty="0" err="1"/>
              <a:t>pengembangannya</a:t>
            </a:r>
            <a:r>
              <a:rPr lang="en-US" sz="1800" dirty="0"/>
              <a:t>.</a:t>
            </a:r>
            <a:endParaRPr lang="id-ID" sz="1800" dirty="0"/>
          </a:p>
        </p:txBody>
      </p:sp>
      <p:pic>
        <p:nvPicPr>
          <p:cNvPr id="5" name="Graphic 4" descr="Rain with solid fill">
            <a:extLst>
              <a:ext uri="{FF2B5EF4-FFF2-40B4-BE49-F238E27FC236}">
                <a16:creationId xmlns:a16="http://schemas.microsoft.com/office/drawing/2014/main" id="{331C99DC-3FDA-3626-40EA-845E8789E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9260" y="2102261"/>
            <a:ext cx="3072640" cy="307264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874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C5C7-93DF-8A53-CCD2-1DDAB95D3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49030"/>
          </a:xfrm>
        </p:spPr>
        <p:txBody>
          <a:bodyPr>
            <a:normAutofit/>
          </a:bodyPr>
          <a:lstStyle/>
          <a:p>
            <a:r>
              <a:rPr lang="en-US" dirty="0"/>
              <a:t>Ide </a:t>
            </a:r>
            <a:r>
              <a:rPr lang="en-US" dirty="0" err="1"/>
              <a:t>topik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2A1E1-FAC1-8870-440F-C4DB29726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63430"/>
            <a:ext cx="9367493" cy="4298458"/>
          </a:xfrm>
        </p:spPr>
        <p:txBody>
          <a:bodyPr>
            <a:normAutofit fontScale="92500" lnSpcReduction="20000"/>
          </a:bodyPr>
          <a:lstStyle/>
          <a:p>
            <a:r>
              <a:rPr lang="id-ID" b="1" dirty="0"/>
              <a:t>Tipologi</a:t>
            </a:r>
            <a:r>
              <a:rPr lang="en-US" b="1" dirty="0"/>
              <a:t> dan </a:t>
            </a:r>
            <a:r>
              <a:rPr lang="en-US" b="1" dirty="0" err="1"/>
              <a:t>Pelacakan</a:t>
            </a:r>
            <a:r>
              <a:rPr lang="en-US" b="1" dirty="0"/>
              <a:t> Tren Curah </a:t>
            </a:r>
            <a:r>
              <a:rPr lang="en-US" b="1" dirty="0" err="1"/>
              <a:t>Hujan</a:t>
            </a:r>
            <a:r>
              <a:rPr lang="en-US" b="1" dirty="0"/>
              <a:t> di Kota </a:t>
            </a:r>
            <a:r>
              <a:rPr lang="en-US" b="1" dirty="0" err="1"/>
              <a:t>Serang</a:t>
            </a:r>
            <a:r>
              <a:rPr lang="en-US" b="1" dirty="0"/>
              <a:t> </a:t>
            </a:r>
            <a:r>
              <a:rPr lang="en-US" b="1" dirty="0" err="1"/>
              <a:t>Berdasar</a:t>
            </a:r>
            <a:r>
              <a:rPr lang="en-US" b="1" dirty="0"/>
              <a:t> </a:t>
            </a:r>
            <a:r>
              <a:rPr lang="en-US" b="1" dirty="0" err="1"/>
              <a:t>Pendekatan</a:t>
            </a:r>
            <a:r>
              <a:rPr lang="en-US" b="1" dirty="0"/>
              <a:t> </a:t>
            </a:r>
            <a:r>
              <a:rPr lang="en-US" b="1" dirty="0" err="1"/>
              <a:t>Algoritma</a:t>
            </a:r>
            <a:r>
              <a:rPr lang="en-US" b="1" dirty="0"/>
              <a:t> </a:t>
            </a:r>
            <a:r>
              <a:rPr lang="en-US" b="1" dirty="0" err="1"/>
              <a:t>Klaster</a:t>
            </a:r>
            <a:endParaRPr lang="en-US" b="1" dirty="0"/>
          </a:p>
          <a:p>
            <a:pPr lvl="1"/>
            <a:r>
              <a:rPr lang="en-US" dirty="0" err="1"/>
              <a:t>Masalah</a:t>
            </a:r>
            <a:r>
              <a:rPr lang="en-US" dirty="0"/>
              <a:t> yang </a:t>
            </a:r>
            <a:r>
              <a:rPr lang="en-US" dirty="0" err="1"/>
              <a:t>diangkat</a:t>
            </a:r>
            <a:r>
              <a:rPr lang="en-US" dirty="0"/>
              <a:t>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Pola</a:t>
            </a:r>
            <a:r>
              <a:rPr lang="en-US" dirty="0"/>
              <a:t> </a:t>
            </a:r>
            <a:r>
              <a:rPr lang="en-US" dirty="0" err="1"/>
              <a:t>curah</a:t>
            </a:r>
            <a:r>
              <a:rPr lang="en-US" dirty="0"/>
              <a:t>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tahunan</a:t>
            </a:r>
            <a:r>
              <a:rPr lang="en-US" dirty="0"/>
              <a:t> di Kota </a:t>
            </a:r>
            <a:r>
              <a:rPr lang="en-US" dirty="0" err="1"/>
              <a:t>Serang</a:t>
            </a:r>
            <a:endParaRPr lang="en-US" dirty="0"/>
          </a:p>
          <a:p>
            <a:pPr lvl="1"/>
            <a:r>
              <a:rPr lang="en-US" dirty="0"/>
              <a:t>Data: Curah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harian</a:t>
            </a:r>
            <a:r>
              <a:rPr lang="en-US" dirty="0"/>
              <a:t> dan </a:t>
            </a:r>
            <a:r>
              <a:rPr lang="en-US" dirty="0" err="1"/>
              <a:t>bulanan</a:t>
            </a:r>
            <a:r>
              <a:rPr lang="en-US" dirty="0"/>
              <a:t> Stamet </a:t>
            </a:r>
            <a:r>
              <a:rPr lang="en-US" dirty="0" err="1"/>
              <a:t>Serang</a:t>
            </a:r>
            <a:r>
              <a:rPr lang="en-US" dirty="0"/>
              <a:t> 30 </a:t>
            </a:r>
            <a:r>
              <a:rPr lang="en-US" dirty="0" err="1"/>
              <a:t>tahun</a:t>
            </a:r>
            <a:endParaRPr lang="en-US" dirty="0"/>
          </a:p>
          <a:p>
            <a:pPr lvl="1"/>
            <a:r>
              <a:rPr lang="en-US" dirty="0"/>
              <a:t>Metode: K-Means, PCA biplot</a:t>
            </a:r>
          </a:p>
          <a:p>
            <a:r>
              <a:rPr lang="nn-NO" b="1" dirty="0"/>
              <a:t>Peringatan Curah Hujan Ekstrem di Kota Serang Berdasar Jarak Klaster</a:t>
            </a:r>
          </a:p>
          <a:p>
            <a:pPr lvl="1"/>
            <a:r>
              <a:rPr lang="nn-NO" dirty="0"/>
              <a:t>Masalah yang diangkat: Curah hujan </a:t>
            </a:r>
            <a:r>
              <a:rPr lang="nn-NO" b="1" dirty="0">
                <a:solidFill>
                  <a:schemeClr val="accent5">
                    <a:lumMod val="50000"/>
                  </a:schemeClr>
                </a:solidFill>
              </a:rPr>
              <a:t>ekstrem</a:t>
            </a:r>
            <a:r>
              <a:rPr lang="nn-NO" dirty="0"/>
              <a:t> dasarian/per sekian hari untuk </a:t>
            </a:r>
            <a:r>
              <a:rPr lang="nn-NO" b="1" dirty="0">
                <a:solidFill>
                  <a:schemeClr val="accent5">
                    <a:lumMod val="50000"/>
                  </a:schemeClr>
                </a:solidFill>
              </a:rPr>
              <a:t>peringatan dini iklim</a:t>
            </a:r>
            <a:r>
              <a:rPr lang="nn-NO" dirty="0"/>
              <a:t>.</a:t>
            </a:r>
          </a:p>
          <a:p>
            <a:pPr lvl="1"/>
            <a:r>
              <a:rPr lang="nn-NO" dirty="0"/>
              <a:t>Data: Curah hujan harian Stamet Serang sepanjang tersedia, minimal 10 tahun.</a:t>
            </a:r>
          </a:p>
          <a:p>
            <a:pPr lvl="1"/>
            <a:r>
              <a:rPr lang="nn-NO" dirty="0"/>
              <a:t>Metode: K-Means</a:t>
            </a:r>
          </a:p>
          <a:p>
            <a:r>
              <a:rPr lang="en-US" b="1" dirty="0" err="1"/>
              <a:t>Pembandingan</a:t>
            </a:r>
            <a:r>
              <a:rPr lang="id-ID" b="1" dirty="0"/>
              <a:t> K-Means vs. Metode Klastering Alternatif</a:t>
            </a:r>
            <a:r>
              <a:rPr lang="en-US" b="1" dirty="0"/>
              <a:t> (</a:t>
            </a:r>
            <a:r>
              <a:rPr lang="en-US" b="1" dirty="0" err="1"/>
              <a:t>Aglomerative</a:t>
            </a:r>
            <a:r>
              <a:rPr lang="en-US" b="1" dirty="0"/>
              <a:t>, DBSCAN)</a:t>
            </a:r>
          </a:p>
          <a:p>
            <a:pPr lvl="1"/>
            <a:r>
              <a:rPr lang="en-US" dirty="0" err="1"/>
              <a:t>Masalah</a:t>
            </a:r>
            <a:r>
              <a:rPr lang="en-US" dirty="0"/>
              <a:t> yang </a:t>
            </a:r>
            <a:r>
              <a:rPr lang="en-US" dirty="0" err="1"/>
              <a:t>diangkat</a:t>
            </a:r>
            <a:r>
              <a:rPr lang="en-US" dirty="0"/>
              <a:t>: Metode </a:t>
            </a:r>
            <a:r>
              <a:rPr lang="en-US" dirty="0" err="1"/>
              <a:t>klaster</a:t>
            </a:r>
            <a:r>
              <a:rPr lang="en-US" dirty="0"/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terbaik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US" dirty="0"/>
              <a:t>Data: Curah </a:t>
            </a:r>
            <a:r>
              <a:rPr lang="en-US" dirty="0" err="1"/>
              <a:t>hujan</a:t>
            </a:r>
            <a:r>
              <a:rPr lang="en-US" dirty="0"/>
              <a:t> </a:t>
            </a:r>
            <a:r>
              <a:rPr lang="en-US" dirty="0" err="1"/>
              <a:t>harian</a:t>
            </a:r>
            <a:r>
              <a:rPr lang="en-US" dirty="0"/>
              <a:t> Stamet </a:t>
            </a:r>
            <a:r>
              <a:rPr lang="en-US" dirty="0" err="1"/>
              <a:t>Serang</a:t>
            </a:r>
            <a:endParaRPr lang="en-US" dirty="0"/>
          </a:p>
          <a:p>
            <a:pPr lvl="1"/>
            <a:r>
              <a:rPr lang="en-US" dirty="0"/>
              <a:t>Metode: </a:t>
            </a:r>
            <a:r>
              <a:rPr lang="en-US" dirty="0" err="1"/>
              <a:t>Validasi</a:t>
            </a:r>
            <a:r>
              <a:rPr lang="en-US" dirty="0"/>
              <a:t> Silhouette Score, Davide-Boudoin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092638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5EA098-7399-BAA3-49B2-F39250C65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591737"/>
              </p:ext>
            </p:extLst>
          </p:nvPr>
        </p:nvGraphicFramePr>
        <p:xfrm>
          <a:off x="833336" y="1104257"/>
          <a:ext cx="10525327" cy="537823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627762">
                  <a:extLst>
                    <a:ext uri="{9D8B030D-6E8A-4147-A177-3AD203B41FA5}">
                      <a16:colId xmlns:a16="http://schemas.microsoft.com/office/drawing/2014/main" val="3056372164"/>
                    </a:ext>
                  </a:extLst>
                </a:gridCol>
                <a:gridCol w="2965855">
                  <a:extLst>
                    <a:ext uri="{9D8B030D-6E8A-4147-A177-3AD203B41FA5}">
                      <a16:colId xmlns:a16="http://schemas.microsoft.com/office/drawing/2014/main" val="395522804"/>
                    </a:ext>
                  </a:extLst>
                </a:gridCol>
                <a:gridCol w="2965855">
                  <a:extLst>
                    <a:ext uri="{9D8B030D-6E8A-4147-A177-3AD203B41FA5}">
                      <a16:colId xmlns:a16="http://schemas.microsoft.com/office/drawing/2014/main" val="478945855"/>
                    </a:ext>
                  </a:extLst>
                </a:gridCol>
                <a:gridCol w="2965855">
                  <a:extLst>
                    <a:ext uri="{9D8B030D-6E8A-4147-A177-3AD203B41FA5}">
                      <a16:colId xmlns:a16="http://schemas.microsoft.com/office/drawing/2014/main" val="3309609152"/>
                    </a:ext>
                  </a:extLst>
                </a:gridCol>
              </a:tblGrid>
              <a:tr h="178102">
                <a:tc>
                  <a:txBody>
                    <a:bodyPr/>
                    <a:lstStyle/>
                    <a:p>
                      <a:pPr algn="ctr" fontAlgn="ctr"/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 err="1">
                          <a:effectLst/>
                        </a:rPr>
                        <a:t>Tipologi</a:t>
                      </a:r>
                      <a:r>
                        <a:rPr lang="en-US" sz="1600" b="1" u="none" strike="noStrike" dirty="0">
                          <a:effectLst/>
                        </a:rPr>
                        <a:t> dan </a:t>
                      </a:r>
                      <a:r>
                        <a:rPr lang="en-US" sz="1600" b="1" u="none" strike="noStrike" dirty="0" err="1">
                          <a:effectLst/>
                        </a:rPr>
                        <a:t>Pelacakan</a:t>
                      </a:r>
                      <a:r>
                        <a:rPr lang="en-US" sz="1600" b="1" u="none" strike="noStrike" dirty="0">
                          <a:effectLst/>
                        </a:rPr>
                        <a:t> Tren Curah </a:t>
                      </a:r>
                      <a:r>
                        <a:rPr lang="en-US" sz="1600" b="1" u="none" strike="noStrike" dirty="0" err="1">
                          <a:effectLst/>
                        </a:rPr>
                        <a:t>Hujan</a:t>
                      </a:r>
                      <a:r>
                        <a:rPr lang="en-US" sz="1600" b="1" u="none" strike="noStrike" dirty="0">
                          <a:effectLst/>
                        </a:rPr>
                        <a:t> di Kota </a:t>
                      </a:r>
                      <a:r>
                        <a:rPr lang="en-US" sz="1600" b="1" u="none" strike="noStrike" dirty="0" err="1">
                          <a:effectLst/>
                        </a:rPr>
                        <a:t>Serang</a:t>
                      </a:r>
                      <a:r>
                        <a:rPr lang="en-US" sz="1600" b="1" u="none" strike="noStrike" dirty="0">
                          <a:effectLst/>
                        </a:rPr>
                        <a:t> </a:t>
                      </a:r>
                      <a:r>
                        <a:rPr lang="en-US" sz="1600" b="1" u="none" strike="noStrike" dirty="0" err="1">
                          <a:effectLst/>
                        </a:rPr>
                        <a:t>Berdasar</a:t>
                      </a:r>
                      <a:r>
                        <a:rPr lang="en-US" sz="1600" b="1" u="none" strike="noStrike" dirty="0">
                          <a:effectLst/>
                        </a:rPr>
                        <a:t> </a:t>
                      </a:r>
                      <a:r>
                        <a:rPr lang="en-US" sz="1600" b="1" u="none" strike="noStrike" dirty="0" err="1">
                          <a:effectLst/>
                        </a:rPr>
                        <a:t>Pendekatan</a:t>
                      </a:r>
                      <a:r>
                        <a:rPr lang="en-US" sz="1600" b="1" u="none" strike="noStrike" dirty="0">
                          <a:effectLst/>
                        </a:rPr>
                        <a:t> </a:t>
                      </a:r>
                      <a:r>
                        <a:rPr lang="en-US" sz="1600" b="1" u="none" strike="noStrike" dirty="0" err="1">
                          <a:effectLst/>
                        </a:rPr>
                        <a:t>Algoritma</a:t>
                      </a:r>
                      <a:r>
                        <a:rPr lang="en-US" sz="1600" b="1" u="none" strike="noStrike" dirty="0">
                          <a:effectLst/>
                        </a:rPr>
                        <a:t> </a:t>
                      </a:r>
                      <a:r>
                        <a:rPr lang="en-US" sz="1600" b="1" u="none" strike="noStrike" dirty="0" err="1">
                          <a:effectLst/>
                        </a:rPr>
                        <a:t>Klaster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sz="1600" b="1" dirty="0"/>
                        <a:t>Peringatan Curah Hujan Ekstrem di Kota Serang Berdasar Jarak Klaster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 err="1">
                          <a:effectLst/>
                        </a:rPr>
                        <a:t>Pembandingan</a:t>
                      </a:r>
                      <a:r>
                        <a:rPr lang="en-US" sz="1600" b="1" u="none" strike="noStrike" dirty="0">
                          <a:effectLst/>
                        </a:rPr>
                        <a:t> K-Means vs. Metode Klastering </a:t>
                      </a:r>
                      <a:r>
                        <a:rPr lang="en-US" sz="1600" b="1" u="none" strike="noStrike" dirty="0" err="1">
                          <a:effectLst/>
                        </a:rPr>
                        <a:t>Alternatif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797488"/>
                  </a:ext>
                </a:extLst>
              </a:tr>
              <a:tr h="3562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Data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Bulanan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1 Lokasi, 30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Tahun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CH Harian, 1 Lokasi, Minimal 10 </a:t>
                      </a:r>
                      <a:r>
                        <a:rPr lang="en-US" sz="1600" u="none" strike="noStrike" dirty="0" err="1">
                          <a:effectLst/>
                        </a:rPr>
                        <a:t>tahun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CH Harian, 1 Lokasi, minimal 10 </a:t>
                      </a:r>
                      <a:r>
                        <a:rPr lang="en-US" sz="1600" u="none" strike="noStrike" dirty="0" err="1">
                          <a:effectLst/>
                        </a:rPr>
                        <a:t>tahun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302259"/>
                  </a:ext>
                </a:extLst>
              </a:tr>
              <a:tr h="10686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Alur </a:t>
                      </a:r>
                      <a:r>
                        <a:rPr lang="en-US" sz="1600" b="1" u="none" strike="noStrike" dirty="0" err="1">
                          <a:effectLst/>
                        </a:rPr>
                        <a:t>Kerja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u="none" strike="noStrike" dirty="0">
                          <a:effectLst/>
                        </a:rPr>
                        <a:t>Pre-processing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Elbow &amp; Silhouette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K-Means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Visualisasi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(PCA Biplot)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Memetakan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pola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u="none" strike="noStrike" dirty="0">
                          <a:effectLst/>
                        </a:rPr>
                        <a:t>Pre-processing data </a:t>
                      </a:r>
                      <a:r>
                        <a:rPr lang="en-US" sz="1600" u="none" strike="noStrike" dirty="0" err="1">
                          <a:effectLst/>
                        </a:rPr>
                        <a:t>tahun</a:t>
                      </a:r>
                      <a:r>
                        <a:rPr lang="en-US" sz="1600" u="none" strike="noStrike" dirty="0">
                          <a:effectLst/>
                        </a:rPr>
                        <a:t> XYZ--2019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K-Means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klaster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Penetapan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batas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ekstrem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Menghitung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indeks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ekstrem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tahun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2020-2024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Validasi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Pre-processing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Pembuatan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klaster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Penilaian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klaster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Kesimpulan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736418"/>
                  </a:ext>
                </a:extLst>
              </a:tr>
              <a:tr h="6233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Gambaran Hasil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Tipe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pola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CH per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tahun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Lembar prediksi analog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tahunan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u="none" strike="noStrike" dirty="0" err="1">
                          <a:effectLst/>
                        </a:rPr>
                        <a:t>Indeks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</a:rPr>
                        <a:t>ekstrem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</a:rPr>
                        <a:t>dasarian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u="none" strike="noStrike" dirty="0">
                          <a:effectLst/>
                        </a:rPr>
                        <a:t>Simple web API/dashboard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Tabel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perbandingan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performa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Plot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klaster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497813"/>
                  </a:ext>
                </a:extLst>
              </a:tr>
              <a:tr h="534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Cons (-)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Perlu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memberikan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keterangan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terkait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pola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Perlu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ada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validasi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kejadian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ekstrem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bisa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dari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Stamet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Serang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bisa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juga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dari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sumber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lain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Perlu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memahami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setiap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algoritma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yang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dipakai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Membutuhkan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tuning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Ada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kemungkinan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hasilnya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mirip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272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5578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jet-buntu">
      <a:majorFont>
        <a:latin typeface="JetBrains Mono SemiBold"/>
        <a:ea typeface=""/>
        <a:cs typeface=""/>
      </a:majorFont>
      <a:minorFont>
        <a:latin typeface="Apto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394</Words>
  <Application>Microsoft Office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 Display</vt:lpstr>
      <vt:lpstr>Aptos Narrow</vt:lpstr>
      <vt:lpstr>Arial</vt:lpstr>
      <vt:lpstr>JetBrains Mono SemiBold</vt:lpstr>
      <vt:lpstr>Wingdings</vt:lpstr>
      <vt:lpstr>ChronicleVTI</vt:lpstr>
      <vt:lpstr>Brainstorming Ide Topik Tesis</vt:lpstr>
      <vt:lpstr>Outline</vt:lpstr>
      <vt:lpstr>Review usulan</vt:lpstr>
      <vt:lpstr>Ide topik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Reza Bayu Perdana</dc:creator>
  <cp:lastModifiedBy>Reza Bayu Perdana</cp:lastModifiedBy>
  <cp:revision>1</cp:revision>
  <dcterms:created xsi:type="dcterms:W3CDTF">2025-06-01T04:14:09Z</dcterms:created>
  <dcterms:modified xsi:type="dcterms:W3CDTF">2025-06-01T06:26:57Z</dcterms:modified>
</cp:coreProperties>
</file>