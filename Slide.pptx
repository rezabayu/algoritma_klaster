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4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1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6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3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4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3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5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9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7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92993-1F1C-5E9B-5042-AF75F423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1" b="481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94EEE-DCC8-7F51-27C4-E4C7A1EA4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1" y="978408"/>
            <a:ext cx="4774660" cy="396996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d-ID" sz="3100" dirty="0"/>
              <a:t>ANALISIS</a:t>
            </a:r>
            <a:r>
              <a:rPr lang="en-US" sz="3100" dirty="0"/>
              <a:t> </a:t>
            </a:r>
            <a:r>
              <a:rPr lang="id-ID" sz="3100" dirty="0"/>
              <a:t>PENGELOMPOKAN POLA CURAH HUJAN</a:t>
            </a:r>
            <a:br>
              <a:rPr lang="en-US" sz="3100" dirty="0"/>
            </a:br>
            <a:r>
              <a:rPr lang="id-ID" sz="3100" dirty="0"/>
              <a:t>BERBASIS AUTOENCODER</a:t>
            </a:r>
            <a:br>
              <a:rPr lang="id-ID" sz="3100" dirty="0"/>
            </a:br>
            <a:r>
              <a:rPr lang="id-ID" sz="3100" dirty="0"/>
              <a:t>DAN CONVOLUTIONAL NEURAL NETWORK </a:t>
            </a:r>
            <a:br>
              <a:rPr lang="id-ID" sz="3100" dirty="0"/>
            </a:br>
            <a:r>
              <a:rPr lang="id-ID" sz="3100" dirty="0"/>
              <a:t>DI STASIUN</a:t>
            </a:r>
            <a:r>
              <a:rPr lang="en-US" sz="3100" dirty="0"/>
              <a:t> </a:t>
            </a:r>
            <a:r>
              <a:rPr lang="id-ID" sz="3100" dirty="0"/>
              <a:t>METEOROLOGI MARITIM </a:t>
            </a:r>
            <a:br>
              <a:rPr lang="en-US" sz="3100" dirty="0"/>
            </a:br>
            <a:r>
              <a:rPr lang="id-ID" sz="3100" dirty="0"/>
              <a:t>KELAS I SERANG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E26F5-2F89-C704-7654-9267111A0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Dian </a:t>
            </a:r>
            <a:r>
              <a:rPr lang="en-US" sz="1700" dirty="0" err="1"/>
              <a:t>Herdianingsih</a:t>
            </a:r>
            <a:endParaRPr lang="en-US" sz="1700" dirty="0"/>
          </a:p>
          <a:p>
            <a:pPr>
              <a:lnSpc>
                <a:spcPct val="100000"/>
              </a:lnSpc>
            </a:pPr>
            <a:r>
              <a:rPr lang="id-ID" sz="1700" dirty="0"/>
              <a:t>PROGRAM STUDI TEKNIK INFORMATIKA S-2</a:t>
            </a:r>
            <a:endParaRPr lang="en-US" sz="1700" dirty="0"/>
          </a:p>
          <a:p>
            <a:pPr>
              <a:lnSpc>
                <a:spcPct val="100000"/>
              </a:lnSpc>
            </a:pPr>
            <a:r>
              <a:rPr lang="en-US" sz="1700" dirty="0"/>
              <a:t>Universitas </a:t>
            </a:r>
            <a:r>
              <a:rPr lang="en-US" sz="1700" dirty="0" err="1"/>
              <a:t>Pamulang</a:t>
            </a:r>
            <a:endParaRPr lang="id-ID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Description: Logo_warna2">
            <a:extLst>
              <a:ext uri="{FF2B5EF4-FFF2-40B4-BE49-F238E27FC236}">
                <a16:creationId xmlns:a16="http://schemas.microsoft.com/office/drawing/2014/main" id="{2062E437-BDCE-40A0-E72D-F20E7E1C6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644" y="4473500"/>
            <a:ext cx="1889763" cy="1845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8244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D74C-2A32-42E6-A731-8E20829F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11155680" cy="821209"/>
          </a:xfrm>
        </p:spPr>
        <p:txBody>
          <a:bodyPr>
            <a:normAutofit/>
          </a:bodyPr>
          <a:lstStyle/>
          <a:p>
            <a:r>
              <a:rPr lang="en-US" dirty="0"/>
              <a:t>Tata Saji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1015-9E94-0589-FC37-942471F16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99616"/>
            <a:ext cx="5574792" cy="4546320"/>
          </a:xfrm>
        </p:spPr>
        <p:txBody>
          <a:bodyPr/>
          <a:lstStyle/>
          <a:p>
            <a:r>
              <a:rPr lang="en-US" dirty="0"/>
              <a:t>Halaman </a:t>
            </a:r>
            <a:r>
              <a:rPr lang="en-US" dirty="0" err="1"/>
              <a:t>Judul</a:t>
            </a:r>
            <a:endParaRPr lang="en-US" dirty="0"/>
          </a:p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en-US" dirty="0"/>
          </a:p>
          <a:p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, Tujuan, dan Manfaat </a:t>
            </a:r>
            <a:r>
              <a:rPr lang="en-US" dirty="0" err="1"/>
              <a:t>Penelitian</a:t>
            </a:r>
            <a:endParaRPr lang="en-US" dirty="0"/>
          </a:p>
          <a:p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Terdahulu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Penelitian</a:t>
            </a:r>
            <a:endParaRPr lang="en-US" dirty="0"/>
          </a:p>
          <a:p>
            <a:r>
              <a:rPr lang="en-US" dirty="0" err="1"/>
              <a:t>Metodologi</a:t>
            </a:r>
            <a:endParaRPr lang="en-US" dirty="0"/>
          </a:p>
          <a:p>
            <a:r>
              <a:rPr lang="en-US" dirty="0" err="1"/>
              <a:t>Luaran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  <a:p>
            <a:r>
              <a:rPr lang="en-US" dirty="0"/>
              <a:t>Jadwal </a:t>
            </a:r>
            <a:r>
              <a:rPr lang="en-US" dirty="0" err="1"/>
              <a:t>Penelitian</a:t>
            </a:r>
            <a:r>
              <a:rPr lang="en-US" dirty="0"/>
              <a:t> &amp; </a:t>
            </a:r>
            <a:r>
              <a:rPr lang="en-US" dirty="0" err="1"/>
              <a:t>Penutup</a:t>
            </a:r>
            <a:endParaRPr lang="id-ID" dirty="0"/>
          </a:p>
        </p:txBody>
      </p:sp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D6FACA11-C081-15F4-8EBC-924F9A703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9886" y="1611513"/>
            <a:ext cx="3634974" cy="36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9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E9D1-FE56-C6A9-3910-81EA2B72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7"/>
            <a:ext cx="11155680" cy="772571"/>
          </a:xfrm>
        </p:spPr>
        <p:txBody>
          <a:bodyPr/>
          <a:lstStyle/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5217-554C-8A53-FBF4-B9599761D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994170"/>
            <a:ext cx="7474929" cy="4351766"/>
          </a:xfrm>
        </p:spPr>
        <p:txBody>
          <a:bodyPr>
            <a:normAutofit lnSpcReduction="10000"/>
          </a:bodyPr>
          <a:lstStyle/>
          <a:p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Curah hujan</a:t>
            </a:r>
            <a:r>
              <a:rPr lang="id-ID" dirty="0"/>
              <a:t> </a:t>
            </a:r>
            <a:r>
              <a:rPr lang="en-US" dirty="0"/>
              <a:t>di 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id-ID" dirty="0"/>
              <a:t>pesisir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Serang</a:t>
            </a:r>
            <a:r>
              <a:rPr lang="id-ID" dirty="0"/>
              <a:t>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berdampak langsung</a:t>
            </a:r>
            <a:r>
              <a:rPr lang="id-ID" dirty="0"/>
              <a:t> ke pelayaran, aktivitas maritim, dan kesiapsiagaan</a:t>
            </a:r>
            <a:r>
              <a:rPr lang="en-US" dirty="0"/>
              <a:t>.</a:t>
            </a:r>
          </a:p>
          <a:p>
            <a:r>
              <a:rPr lang="id-ID" dirty="0"/>
              <a:t>Data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historis</a:t>
            </a:r>
            <a:r>
              <a:rPr lang="id-ID" dirty="0"/>
              <a:t> tersedia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panjang</a:t>
            </a:r>
            <a:r>
              <a:rPr lang="id-ID" dirty="0"/>
              <a:t> (1995–2024), tetapi belum terolah menjadi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produk ringkas</a:t>
            </a:r>
            <a:r>
              <a:rPr lang="en-US" dirty="0"/>
              <a:t>.</a:t>
            </a:r>
          </a:p>
          <a:p>
            <a:r>
              <a:rPr lang="id-ID" dirty="0"/>
              <a:t>Layanan informasi hujan masih bersifat deskriptif, belum berbasis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pola &amp; sinyal</a:t>
            </a:r>
            <a:r>
              <a:rPr lang="en-US" dirty="0"/>
              <a:t>.</a:t>
            </a:r>
          </a:p>
          <a:p>
            <a:r>
              <a:rPr lang="id-ID" dirty="0"/>
              <a:t>Dibutuhkan produk yang mudah dipahami dan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operasional</a:t>
            </a:r>
            <a:r>
              <a:rPr lang="id-ID" dirty="0"/>
              <a:t> di level stasiun</a:t>
            </a:r>
            <a:r>
              <a:rPr lang="en-US" dirty="0"/>
              <a:t>/UPT.</a:t>
            </a:r>
          </a:p>
          <a:p>
            <a:r>
              <a:rPr lang="en-US" dirty="0"/>
              <a:t>D</a:t>
            </a:r>
            <a:r>
              <a:rPr lang="id-ID" dirty="0" err="1"/>
              <a:t>iperlukan</a:t>
            </a:r>
            <a:r>
              <a:rPr lang="id-ID" dirty="0"/>
              <a:t>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pendekatan </a:t>
            </a:r>
            <a:r>
              <a:rPr lang="id-ID" b="1" dirty="0" err="1">
                <a:solidFill>
                  <a:schemeClr val="accent1">
                    <a:lumMod val="75000"/>
                  </a:schemeClr>
                </a:solidFill>
              </a:rPr>
              <a:t>komputasional</a:t>
            </a:r>
            <a:r>
              <a:rPr lang="id-ID" dirty="0"/>
              <a:t> yang memanfaatkan data stasiun tunggal untuk: </a:t>
            </a:r>
            <a:endParaRPr lang="en-US" dirty="0"/>
          </a:p>
          <a:p>
            <a:pPr lvl="1"/>
            <a:r>
              <a:rPr lang="id-ID" dirty="0"/>
              <a:t>(i) mengekstraksi dan menamai rezim curah hujan tahunan secara konsisten, </a:t>
            </a:r>
            <a:endParaRPr lang="en-US" dirty="0"/>
          </a:p>
          <a:p>
            <a:pPr lvl="1"/>
            <a:r>
              <a:rPr lang="id-ID" dirty="0"/>
              <a:t>(ii) menurunkan sinyal operasional yang relevan bagi pengguna.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048BA6-7826-E9CB-1F5D-2B38A3CA3E0E}"/>
              </a:ext>
            </a:extLst>
          </p:cNvPr>
          <p:cNvGrpSpPr/>
          <p:nvPr/>
        </p:nvGrpSpPr>
        <p:grpSpPr>
          <a:xfrm>
            <a:off x="9027124" y="2261353"/>
            <a:ext cx="2733615" cy="3817400"/>
            <a:chOff x="7597158" y="2062192"/>
            <a:chExt cx="2733615" cy="3817400"/>
          </a:xfrm>
        </p:grpSpPr>
        <p:pic>
          <p:nvPicPr>
            <p:cNvPr id="5" name="Graphic 4" descr="Cloud With Lightning And Rain with solid fill">
              <a:extLst>
                <a:ext uri="{FF2B5EF4-FFF2-40B4-BE49-F238E27FC236}">
                  <a16:creationId xmlns:a16="http://schemas.microsoft.com/office/drawing/2014/main" id="{0E0545C3-E19B-A7CA-6544-501420D83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97158" y="2062192"/>
              <a:ext cx="2733615" cy="2733615"/>
            </a:xfrm>
            <a:prstGeom prst="rect">
              <a:avLst/>
            </a:prstGeom>
          </p:spPr>
        </p:pic>
        <p:pic>
          <p:nvPicPr>
            <p:cNvPr id="7" name="Graphic 6" descr="City outline">
              <a:extLst>
                <a:ext uri="{FF2B5EF4-FFF2-40B4-BE49-F238E27FC236}">
                  <a16:creationId xmlns:a16="http://schemas.microsoft.com/office/drawing/2014/main" id="{5A25553C-D18E-EDBA-7939-AD98BC89F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09987" y="4577495"/>
              <a:ext cx="1302097" cy="13020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663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C019-8F75-7715-B0C6-E686F016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055B-3453-6B81-24BA-98AE67E6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7"/>
            <a:ext cx="11155680" cy="772571"/>
          </a:xfrm>
        </p:spPr>
        <p:txBody>
          <a:bodyPr/>
          <a:lstStyle/>
          <a:p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dan Manfaat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EBEE-C31E-F545-9CDF-BDF0A802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994170"/>
            <a:ext cx="5574793" cy="3885423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Rumusan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Masalah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id-ID" dirty="0"/>
              <a:t>Bagaimana membangun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representasi tahunan curah hujan</a:t>
            </a:r>
            <a:r>
              <a:rPr lang="id-ID" dirty="0"/>
              <a:t> berbasis dasarian menggunakan </a:t>
            </a:r>
            <a:r>
              <a:rPr lang="id-ID" dirty="0" err="1"/>
              <a:t>Autoencoder</a:t>
            </a:r>
            <a:r>
              <a:rPr lang="id-ID" dirty="0"/>
              <a:t>?</a:t>
            </a:r>
          </a:p>
          <a:p>
            <a:pPr lvl="1"/>
            <a:r>
              <a:rPr lang="id-ID" dirty="0"/>
              <a:t>Bagaimana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kualitas dan kestabilan tipologi pola curah hujan</a:t>
            </a:r>
            <a:r>
              <a:rPr lang="id-ID" dirty="0"/>
              <a:t> yang dihasilkan dari pemodelan </a:t>
            </a:r>
            <a:r>
              <a:rPr lang="id-ID" dirty="0" err="1"/>
              <a:t>Autoencoder</a:t>
            </a:r>
            <a:r>
              <a:rPr lang="id-ID" dirty="0"/>
              <a:t>?</a:t>
            </a:r>
          </a:p>
          <a:p>
            <a:pPr lvl="1"/>
            <a:r>
              <a:rPr lang="id-ID" dirty="0"/>
              <a:t>Apakah model CNN</a:t>
            </a:r>
            <a:r>
              <a:rPr lang="en-US" dirty="0"/>
              <a:t> 1D</a:t>
            </a:r>
            <a:r>
              <a:rPr lang="id-ID" dirty="0"/>
              <a:t> mampu menghasilkan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sinyal deteksi</a:t>
            </a:r>
            <a:r>
              <a:rPr lang="id-ID" dirty="0"/>
              <a:t> atau indikasi dini kejadian 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hujan harian kategori lebat?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F881E2-F21B-B761-4EA0-6EC92D77A306}"/>
              </a:ext>
            </a:extLst>
          </p:cNvPr>
          <p:cNvSpPr txBox="1">
            <a:spLocks/>
          </p:cNvSpPr>
          <p:nvPr/>
        </p:nvSpPr>
        <p:spPr>
          <a:xfrm>
            <a:off x="6096001" y="1994169"/>
            <a:ext cx="5275634" cy="388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Manfaat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Penelitian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sv-SE" dirty="0"/>
              <a:t>Pengembangan metode pembelajaran mesin dalam analisis klimatologi. (</a:t>
            </a:r>
            <a:r>
              <a:rPr lang="sv-SE" b="1" dirty="0"/>
              <a:t>Akademis</a:t>
            </a:r>
            <a:r>
              <a:rPr lang="sv-SE" dirty="0"/>
              <a:t>)</a:t>
            </a:r>
          </a:p>
          <a:p>
            <a:pPr lvl="1"/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klimatologis</a:t>
            </a:r>
            <a:r>
              <a:rPr lang="en-US" dirty="0"/>
              <a:t> yang </a:t>
            </a:r>
            <a:r>
              <a:rPr lang="en-US" dirty="0" err="1"/>
              <a:t>ringkas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dioperasikan</a:t>
            </a:r>
            <a:r>
              <a:rPr lang="en-US" dirty="0"/>
              <a:t>,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tipologi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tahunan</a:t>
            </a:r>
            <a:r>
              <a:rPr lang="en-US" dirty="0"/>
              <a:t> dan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deteksi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lebat</a:t>
            </a:r>
            <a:r>
              <a:rPr lang="en-US" dirty="0"/>
              <a:t>. (</a:t>
            </a:r>
            <a:r>
              <a:rPr lang="en-US" b="1" dirty="0" err="1"/>
              <a:t>Praktis</a:t>
            </a:r>
            <a:r>
              <a:rPr lang="en-US" dirty="0"/>
              <a:t>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5BEF4A-A379-F0EC-2AB0-DF1B2FD7DB6A}"/>
              </a:ext>
            </a:extLst>
          </p:cNvPr>
          <p:cNvGrpSpPr/>
          <p:nvPr/>
        </p:nvGrpSpPr>
        <p:grpSpPr>
          <a:xfrm>
            <a:off x="5181600" y="5422392"/>
            <a:ext cx="1828800" cy="914401"/>
            <a:chOff x="5207540" y="5422392"/>
            <a:chExt cx="1828800" cy="914401"/>
          </a:xfrm>
        </p:grpSpPr>
        <p:pic>
          <p:nvPicPr>
            <p:cNvPr id="9" name="Graphic 8" descr="Bullseye with solid fill">
              <a:extLst>
                <a:ext uri="{FF2B5EF4-FFF2-40B4-BE49-F238E27FC236}">
                  <a16:creationId xmlns:a16="http://schemas.microsoft.com/office/drawing/2014/main" id="{59094719-38B6-0495-6DEB-68124FC58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07540" y="5422393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Bow And Arrow with solid fill">
              <a:extLst>
                <a:ext uri="{FF2B5EF4-FFF2-40B4-BE49-F238E27FC236}">
                  <a16:creationId xmlns:a16="http://schemas.microsoft.com/office/drawing/2014/main" id="{496E9E36-2696-877D-22FF-BB0918E63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3500000">
              <a:off x="6121940" y="542239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807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4E529-F86B-EEBF-B141-2BCD9113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B068F-B052-2775-2625-9079911E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Penelitian Terdahulu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51191D-FB8C-2C86-1261-01A8499BC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28332"/>
              </p:ext>
            </p:extLst>
          </p:nvPr>
        </p:nvGraphicFramePr>
        <p:xfrm>
          <a:off x="4371704" y="241461"/>
          <a:ext cx="7293598" cy="596846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75640">
                  <a:extLst>
                    <a:ext uri="{9D8B030D-6E8A-4147-A177-3AD203B41FA5}">
                      <a16:colId xmlns:a16="http://schemas.microsoft.com/office/drawing/2014/main" val="2438146657"/>
                    </a:ext>
                  </a:extLst>
                </a:gridCol>
                <a:gridCol w="982247">
                  <a:extLst>
                    <a:ext uri="{9D8B030D-6E8A-4147-A177-3AD203B41FA5}">
                      <a16:colId xmlns:a16="http://schemas.microsoft.com/office/drawing/2014/main" val="1057001388"/>
                    </a:ext>
                  </a:extLst>
                </a:gridCol>
                <a:gridCol w="1488685">
                  <a:extLst>
                    <a:ext uri="{9D8B030D-6E8A-4147-A177-3AD203B41FA5}">
                      <a16:colId xmlns:a16="http://schemas.microsoft.com/office/drawing/2014/main" val="1186088658"/>
                    </a:ext>
                  </a:extLst>
                </a:gridCol>
                <a:gridCol w="1215376">
                  <a:extLst>
                    <a:ext uri="{9D8B030D-6E8A-4147-A177-3AD203B41FA5}">
                      <a16:colId xmlns:a16="http://schemas.microsoft.com/office/drawing/2014/main" val="1977785174"/>
                    </a:ext>
                  </a:extLst>
                </a:gridCol>
                <a:gridCol w="1043947">
                  <a:extLst>
                    <a:ext uri="{9D8B030D-6E8A-4147-A177-3AD203B41FA5}">
                      <a16:colId xmlns:a16="http://schemas.microsoft.com/office/drawing/2014/main" val="2571743607"/>
                    </a:ext>
                  </a:extLst>
                </a:gridCol>
                <a:gridCol w="2187703">
                  <a:extLst>
                    <a:ext uri="{9D8B030D-6E8A-4147-A177-3AD203B41FA5}">
                      <a16:colId xmlns:a16="http://schemas.microsoft.com/office/drawing/2014/main" val="451374778"/>
                    </a:ext>
                  </a:extLst>
                </a:gridCol>
              </a:tblGrid>
              <a:tr h="5734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id-ID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Peneliti &amp; Tahun</a:t>
                      </a:r>
                      <a:endParaRPr lang="id-ID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Fokus Penelitian</a:t>
                      </a:r>
                      <a:endParaRPr lang="id-ID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Metode / Model Utama</a:t>
                      </a:r>
                      <a:endParaRPr lang="id-ID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Lokasi / Data</a:t>
                      </a:r>
                      <a:endParaRPr lang="id-ID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Relevansi dengan Penelitian Ini</a:t>
                      </a:r>
                      <a:endParaRPr lang="id-ID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915937"/>
                  </a:ext>
                </a:extLst>
              </a:tr>
              <a:tr h="6248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Chang et al. (2005)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i-FI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Siklus tahunan hujan Asia Tenggara–Maritim</a:t>
                      </a:r>
                      <a:endParaRPr lang="fi-FI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Analisis klimatologis &amp; sirkulasi monsun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Asia Tenggara–Maritim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Memberi konteks regional pola hujan monsunal yang memengaruhi Serang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82605"/>
                  </a:ext>
                </a:extLst>
              </a:tr>
              <a:tr h="6248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Basri et al. (2021)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Regionalisasi rezim hujan dengan hybrid RF–Bootstrap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Random Forest, Bootstrap, klaster hierarkis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Wilayah studi (multi-stasiun hujan)</a:t>
                      </a:r>
                      <a:endParaRPr lang="id-ID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Menjadi rujukan pemanfaatan klastering untuk rezim hujan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2417"/>
                  </a:ext>
                </a:extLst>
              </a:tr>
              <a:tr h="6248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Kurihana et al. (2024)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Identifikasi pola iklim dengan clustering autoencoder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Autoencoder + klastering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Data keluaran model iklim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Landasan penggunaan AE untuk tipologi rezim hujan tahunan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74903"/>
                  </a:ext>
                </a:extLst>
              </a:tr>
              <a:tr h="6248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Liu et al. (2023)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Nowcasting level curah hujan dengan Conv1D–Transformer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Conv1D + Transformer (RLNformer)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Xinjiang Utara, Cina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i-FI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Menguatkan relevansi Conv1D untuk klasifikasi kategori hujan</a:t>
                      </a:r>
                      <a:endParaRPr lang="fi-FI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9132"/>
                  </a:ext>
                </a:extLst>
              </a:tr>
              <a:tr h="6248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Kim et al. (2020)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Prediksi cuaca laut global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Denoising AE + ConvLSTM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Data cuaca laut global</a:t>
                      </a:r>
                      <a:endParaRPr lang="id-ID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d-ID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Menunjukkan manfaat AE + CNN/LSTM pada data atmosfer yang kompleks</a:t>
                      </a:r>
                      <a:endParaRPr lang="id-ID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0" marR="5297" marT="15429" marB="1157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727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91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CA465-61BE-C480-E89A-9D3FB1C7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10063EA-B653-6199-8A1C-3F26FA0D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02E3142-8A4E-4AF1-C48D-8005FF6CD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E5CDFDF-12E7-4DB5-7083-558E6AEBB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37B70-3929-9C5C-8963-6D0D2FA5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Penelitian Terdahulu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711B678-8B7E-453E-A049-0E1A8BCCE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967936-C490-D467-3B6F-11C21480D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270A9-AC95-0DA9-3D4D-90CC104E1313}"/>
              </a:ext>
            </a:extLst>
          </p:cNvPr>
          <p:cNvSpPr txBox="1"/>
          <p:nvPr/>
        </p:nvSpPr>
        <p:spPr>
          <a:xfrm>
            <a:off x="4504653" y="508090"/>
            <a:ext cx="6885242" cy="2862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id-ID" b="1" dirty="0">
                <a:solidFill>
                  <a:schemeClr val="tx1"/>
                </a:solidFill>
              </a:rPr>
              <a:t>Tipologi Pola Curah Hujan</a:t>
            </a:r>
            <a:endParaRPr lang="id-ID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id-ID" dirty="0">
                <a:solidFill>
                  <a:schemeClr val="tx1"/>
                </a:solidFill>
              </a:rPr>
              <a:t>Berbagai penelitian telah melakukan pengelompokan pola curah hujan menggunakan metode statistik dan </a:t>
            </a:r>
            <a:r>
              <a:rPr lang="id-ID" i="1" dirty="0">
                <a:solidFill>
                  <a:schemeClr val="tx1"/>
                </a:solidFill>
              </a:rPr>
              <a:t>machine learning</a:t>
            </a:r>
            <a:r>
              <a:rPr lang="id-ID" dirty="0">
                <a:solidFill>
                  <a:schemeClr val="tx1"/>
                </a:solidFill>
              </a:rPr>
              <a:t> seperti K-Means dan Hierarchical Clustering, umumnya pada skala wilayah regional atau nasional.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id-ID" dirty="0">
                <a:solidFill>
                  <a:schemeClr val="tx1"/>
                </a:solidFill>
              </a:rPr>
              <a:t>Representasi data yang digunakan masih didominasi oleh fitur statistik sederhana, dan sebagian besar belum memanfaatkan representasi </a:t>
            </a:r>
            <a:r>
              <a:rPr lang="id-ID" dirty="0" err="1">
                <a:solidFill>
                  <a:schemeClr val="tx1"/>
                </a:solidFill>
              </a:rPr>
              <a:t>nonlinier</a:t>
            </a:r>
            <a:r>
              <a:rPr lang="id-ID" dirty="0">
                <a:solidFill>
                  <a:schemeClr val="tx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id-ID" dirty="0">
                <a:solidFill>
                  <a:schemeClr val="tx1"/>
                </a:solidFill>
              </a:rPr>
              <a:t>Evaluasi tipologi umumnya terbatas pada kualitas klaster, tanpa pengujian kestabilan klaster antar-sampel.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643B9-8499-F1EF-2035-39706A9AE28A}"/>
              </a:ext>
            </a:extLst>
          </p:cNvPr>
          <p:cNvSpPr txBox="1"/>
          <p:nvPr/>
        </p:nvSpPr>
        <p:spPr>
          <a:xfrm>
            <a:off x="256674" y="3220508"/>
            <a:ext cx="58362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d-ID" b="1" dirty="0"/>
              <a:t>Deteksi / Prediksi Hujan Lebat</a:t>
            </a:r>
            <a:endParaRPr lang="id-ID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id-ID" dirty="0"/>
              <a:t>Pendekatan </a:t>
            </a:r>
            <a:r>
              <a:rPr lang="id-ID" i="1" dirty="0"/>
              <a:t>machine learning</a:t>
            </a:r>
            <a:r>
              <a:rPr lang="id-ID" dirty="0"/>
              <a:t> dan </a:t>
            </a:r>
            <a:r>
              <a:rPr lang="id-ID" i="1" dirty="0"/>
              <a:t>deep learning</a:t>
            </a:r>
            <a:r>
              <a:rPr lang="id-ID" dirty="0"/>
              <a:t> telah digunakan untuk mendeteksi atau memprediksi kejadian hujan lebat, termasuk Artificial Neural Network dan Convolutional Neural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id-ID" dirty="0"/>
              <a:t>Sebagian penelitian belum menerapkan pembagian data berbasis waktu (</a:t>
            </a:r>
            <a:r>
              <a:rPr lang="id-ID" i="1" dirty="0"/>
              <a:t>time-</a:t>
            </a:r>
            <a:r>
              <a:rPr lang="id-ID" i="1" dirty="0" err="1"/>
              <a:t>aware</a:t>
            </a:r>
            <a:r>
              <a:rPr lang="id-ID" i="1" dirty="0"/>
              <a:t> </a:t>
            </a:r>
            <a:r>
              <a:rPr lang="id-ID" i="1" dirty="0" err="1"/>
              <a:t>split</a:t>
            </a:r>
            <a:r>
              <a:rPr lang="id-ID" dirty="0"/>
              <a:t>), sehingga berpotensi terjadi </a:t>
            </a:r>
            <a:r>
              <a:rPr lang="id-ID" i="1" dirty="0"/>
              <a:t>data </a:t>
            </a:r>
            <a:r>
              <a:rPr lang="id-ID" i="1" dirty="0" err="1"/>
              <a:t>leakage</a:t>
            </a:r>
            <a:r>
              <a:rPr lang="id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id-ID" dirty="0"/>
              <a:t>Evaluasi model sering berfokus pada metrik akurasi umum, dan belum sepenuhnya menggunakan metrik operasional seperti POD, FAR, dan CSI.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C14AE-51DF-A0E9-3DA0-5A3C464BF687}"/>
              </a:ext>
            </a:extLst>
          </p:cNvPr>
          <p:cNvSpPr txBox="1"/>
          <p:nvPr/>
        </p:nvSpPr>
        <p:spPr>
          <a:xfrm>
            <a:off x="6092952" y="3580030"/>
            <a:ext cx="5696971" cy="25853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id-ID" b="1" dirty="0">
                <a:solidFill>
                  <a:schemeClr val="tx1"/>
                </a:solidFill>
              </a:rPr>
              <a:t>Posisi Penelitian Ini</a:t>
            </a:r>
            <a:endParaRPr lang="id-ID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id-ID" dirty="0">
                <a:solidFill>
                  <a:schemeClr val="tx1"/>
                </a:solidFill>
              </a:rPr>
              <a:t>Penelitian ini mengembangkan </a:t>
            </a:r>
            <a:r>
              <a:rPr lang="id-ID" b="1" dirty="0">
                <a:solidFill>
                  <a:schemeClr val="tx1"/>
                </a:solidFill>
              </a:rPr>
              <a:t>tipologi pola curah hujan</a:t>
            </a:r>
            <a:r>
              <a:rPr lang="id-ID" dirty="0">
                <a:solidFill>
                  <a:schemeClr val="tx1"/>
                </a:solidFill>
              </a:rPr>
              <a:t> tahunan </a:t>
            </a:r>
            <a:r>
              <a:rPr lang="id-ID" b="1" dirty="0">
                <a:solidFill>
                  <a:schemeClr val="tx1"/>
                </a:solidFill>
              </a:rPr>
              <a:t>level stasiun</a:t>
            </a:r>
            <a:r>
              <a:rPr lang="id-ID" dirty="0">
                <a:solidFill>
                  <a:schemeClr val="tx1"/>
                </a:solidFill>
              </a:rPr>
              <a:t> berbasis </a:t>
            </a:r>
            <a:r>
              <a:rPr lang="id-ID" b="1" dirty="0">
                <a:solidFill>
                  <a:schemeClr val="tx1"/>
                </a:solidFill>
              </a:rPr>
              <a:t>representasi </a:t>
            </a:r>
            <a:r>
              <a:rPr lang="id-ID" b="1" dirty="0" err="1">
                <a:solidFill>
                  <a:schemeClr val="tx1"/>
                </a:solidFill>
              </a:rPr>
              <a:t>nonlinier</a:t>
            </a:r>
            <a:r>
              <a:rPr lang="id-ID" dirty="0">
                <a:solidFill>
                  <a:schemeClr val="tx1"/>
                </a:solidFill>
              </a:rPr>
              <a:t> menggunakan </a:t>
            </a:r>
            <a:r>
              <a:rPr lang="id-ID" b="1" dirty="0" err="1">
                <a:solidFill>
                  <a:schemeClr val="tx1"/>
                </a:solidFill>
              </a:rPr>
              <a:t>Autoencoder</a:t>
            </a:r>
            <a:r>
              <a:rPr lang="id-ID" dirty="0">
                <a:solidFill>
                  <a:schemeClr val="tx1"/>
                </a:solidFill>
              </a:rPr>
              <a:t>, disertai evaluasi kualitas dan kestabilan klaster.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id-ID" dirty="0">
                <a:solidFill>
                  <a:schemeClr val="tx1"/>
                </a:solidFill>
              </a:rPr>
              <a:t>Selain itu, penelitian ini mengembangkan sinyal deteksi dini hujan lebat harian berbasis CNN 1D menggunakan fitur akumulasi curah hujan, dengan evaluasi berbasis metrik operasional.</a:t>
            </a:r>
          </a:p>
        </p:txBody>
      </p:sp>
    </p:spTree>
    <p:extLst>
      <p:ext uri="{BB962C8B-B14F-4D97-AF65-F5344CB8AC3E}">
        <p14:creationId xmlns:p14="http://schemas.microsoft.com/office/powerpoint/2010/main" val="79892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7815-5759-A0E6-97F8-746AA711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311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EC4A-2BB1-9C6C-80A8-8B7E78278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31523"/>
            <a:ext cx="3700596" cy="1303507"/>
          </a:xfrm>
        </p:spPr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lang="en-US" dirty="0"/>
              <a:t> Stasiun </a:t>
            </a:r>
            <a:r>
              <a:rPr lang="en-US" dirty="0" err="1"/>
              <a:t>Meteorologi</a:t>
            </a:r>
            <a:r>
              <a:rPr lang="en-US" dirty="0"/>
              <a:t> Maritim </a:t>
            </a:r>
            <a:r>
              <a:rPr lang="en-US" dirty="0" err="1"/>
              <a:t>Serang</a:t>
            </a:r>
            <a:r>
              <a:rPr lang="en-US" dirty="0"/>
              <a:t> 1995—2024</a:t>
            </a:r>
          </a:p>
          <a:p>
            <a:endParaRPr lang="id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524AEB-DB76-455B-DA88-562065545792}"/>
              </a:ext>
            </a:extLst>
          </p:cNvPr>
          <p:cNvSpPr txBox="1">
            <a:spLocks/>
          </p:cNvSpPr>
          <p:nvPr/>
        </p:nvSpPr>
        <p:spPr>
          <a:xfrm>
            <a:off x="6490748" y="3690867"/>
            <a:ext cx="3700596" cy="2188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Tahunan → agregasi 36 dasarian</a:t>
            </a:r>
            <a:endParaRPr lang="en-US" dirty="0"/>
          </a:p>
          <a:p>
            <a:r>
              <a:rPr lang="id-ID" dirty="0"/>
              <a:t>Harian → fitur R1, R3, R5, R7, R10</a:t>
            </a:r>
            <a:endParaRPr lang="en-US" dirty="0"/>
          </a:p>
          <a:p>
            <a:r>
              <a:rPr lang="id-ID" dirty="0"/>
              <a:t>Label hujan lebat → persentil P95–P99 musiman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26A1C855-1619-B696-ED75-8373660354F7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3556027" y="1850509"/>
            <a:ext cx="1750200" cy="4119242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0E8074-A832-5D09-5102-E46BEB55E460}"/>
              </a:ext>
            </a:extLst>
          </p:cNvPr>
          <p:cNvSpPr txBox="1"/>
          <p:nvPr/>
        </p:nvSpPr>
        <p:spPr>
          <a:xfrm rot="900000">
            <a:off x="3483268" y="3875722"/>
            <a:ext cx="14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Transformasi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1769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: Shape 307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5D44C-FD58-A5AA-87CF-3CF7A285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3465681" cy="28348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Metodologi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dirty="0" err="1">
                <a:solidFill>
                  <a:schemeClr val="tx2"/>
                </a:solidFill>
              </a:rPr>
              <a:t>Penelitian</a:t>
            </a:r>
            <a:r>
              <a:rPr lang="en-US" sz="4800" dirty="0">
                <a:solidFill>
                  <a:schemeClr val="tx2"/>
                </a:solidFill>
              </a:rPr>
              <a:t>: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 err="1">
                <a:solidFill>
                  <a:schemeClr val="tx2"/>
                </a:solidFill>
              </a:rPr>
              <a:t>Tahapan</a:t>
            </a:r>
            <a:r>
              <a:rPr lang="en-US" sz="4800" dirty="0">
                <a:solidFill>
                  <a:schemeClr val="tx2"/>
                </a:solidFill>
              </a:rPr>
              <a:t> Umum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CE69566-39B6-ADCD-AE11-BE47EB321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7842" y="657369"/>
            <a:ext cx="7187474" cy="564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308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09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A749-20C8-9898-B3CC-74BEB978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EE93-8121-58AE-9178-726FC2F2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1481"/>
          </a:xfrm>
        </p:spPr>
        <p:txBody>
          <a:bodyPr>
            <a:noAutofit/>
          </a:bodyPr>
          <a:lstStyle/>
          <a:p>
            <a:r>
              <a:rPr lang="en-US" sz="3600" dirty="0" err="1"/>
              <a:t>Metodologi</a:t>
            </a:r>
            <a:r>
              <a:rPr lang="en-US" sz="3600" dirty="0"/>
              <a:t> </a:t>
            </a:r>
            <a:r>
              <a:rPr lang="en-US" sz="3600" dirty="0" err="1"/>
              <a:t>Penelitian</a:t>
            </a:r>
            <a:r>
              <a:rPr lang="en-US" sz="3600" dirty="0"/>
              <a:t>: Autoencoder + Klastering</a:t>
            </a:r>
            <a:endParaRPr lang="id-ID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FC509-B36E-4E0D-5F69-820EF61818D5}"/>
              </a:ext>
            </a:extLst>
          </p:cNvPr>
          <p:cNvSpPr txBox="1"/>
          <p:nvPr/>
        </p:nvSpPr>
        <p:spPr>
          <a:xfrm>
            <a:off x="1890552" y="2288771"/>
            <a:ext cx="2068067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Input: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Vektor 36 </a:t>
            </a:r>
            <a:r>
              <a:rPr lang="en-US" dirty="0" err="1">
                <a:solidFill>
                  <a:sysClr val="windowText" lastClr="000000"/>
                </a:solidFill>
              </a:rPr>
              <a:t>Dasarian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per </a:t>
            </a:r>
            <a:r>
              <a:rPr lang="en-US" dirty="0" err="1">
                <a:solidFill>
                  <a:sysClr val="windowText" lastClr="000000"/>
                </a:solidFill>
              </a:rPr>
              <a:t>tahun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66392-6CA7-C8BD-7349-213496E781EA}"/>
              </a:ext>
            </a:extLst>
          </p:cNvPr>
          <p:cNvSpPr txBox="1"/>
          <p:nvPr/>
        </p:nvSpPr>
        <p:spPr>
          <a:xfrm>
            <a:off x="4718059" y="2427270"/>
            <a:ext cx="2755883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Autoencoder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Reduksi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dimensi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nonlinier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A5746-88BF-8502-8333-5651B8D0CAAB}"/>
              </a:ext>
            </a:extLst>
          </p:cNvPr>
          <p:cNvSpPr txBox="1"/>
          <p:nvPr/>
        </p:nvSpPr>
        <p:spPr>
          <a:xfrm>
            <a:off x="8233382" y="2565769"/>
            <a:ext cx="217348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Klastering</a:t>
            </a:r>
            <a:r>
              <a:rPr lang="en-US" dirty="0">
                <a:solidFill>
                  <a:sysClr val="windowText" lastClr="000000"/>
                </a:solidFill>
              </a:rPr>
              <a:t> K-Means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0693-F606-273C-BB2E-3136967D951B}"/>
              </a:ext>
            </a:extLst>
          </p:cNvPr>
          <p:cNvSpPr txBox="1"/>
          <p:nvPr/>
        </p:nvSpPr>
        <p:spPr>
          <a:xfrm>
            <a:off x="4950750" y="4124506"/>
            <a:ext cx="229049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Output: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dirty="0" err="1">
                <a:solidFill>
                  <a:sysClr val="windowText" lastClr="000000"/>
                </a:solidFill>
              </a:rPr>
              <a:t>Rezim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hujan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tahunan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013123-5D0D-1B99-4441-B43BA999E5B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958619" y="2750436"/>
            <a:ext cx="759440" cy="0"/>
          </a:xfrm>
          <a:prstGeom prst="straightConnector1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6A20C8-0E3C-C0DD-30EC-F7F8B845EFAF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7473942" y="2750435"/>
            <a:ext cx="759440" cy="1"/>
          </a:xfrm>
          <a:prstGeom prst="straightConnector1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D6243D4-53A5-1B1E-346D-C0E2B35EC17F}"/>
              </a:ext>
            </a:extLst>
          </p:cNvPr>
          <p:cNvCxnSpPr>
            <a:stCxn id="6" idx="2"/>
            <a:endCxn id="7" idx="3"/>
          </p:cNvCxnSpPr>
          <p:nvPr/>
        </p:nvCxnSpPr>
        <p:spPr>
          <a:xfrm rot="5400000">
            <a:off x="7524401" y="2651950"/>
            <a:ext cx="1512571" cy="2078873"/>
          </a:xfrm>
          <a:prstGeom prst="bentConnector2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7AF95D-4EAE-DB5B-66D7-FEB6EED26F59}"/>
              </a:ext>
            </a:extLst>
          </p:cNvPr>
          <p:cNvSpPr txBox="1"/>
          <p:nvPr/>
        </p:nvSpPr>
        <p:spPr>
          <a:xfrm>
            <a:off x="2021871" y="4770837"/>
            <a:ext cx="38734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Evaluasi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Silhouette Score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 err="1"/>
              <a:t>Davies</a:t>
            </a:r>
            <a:r>
              <a:rPr lang="id-ID" dirty="0"/>
              <a:t>–</a:t>
            </a:r>
            <a:r>
              <a:rPr lang="id-ID" dirty="0" err="1"/>
              <a:t>Bouldin</a:t>
            </a:r>
            <a:r>
              <a:rPr lang="id-ID" dirty="0"/>
              <a:t> Indeks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Stabilitas klaster (Bootstrap + ARI)</a:t>
            </a:r>
          </a:p>
        </p:txBody>
      </p:sp>
      <p:pic>
        <p:nvPicPr>
          <p:cNvPr id="10" name="Graphic 9" descr="Lost with solid fill">
            <a:extLst>
              <a:ext uri="{FF2B5EF4-FFF2-40B4-BE49-F238E27FC236}">
                <a16:creationId xmlns:a16="http://schemas.microsoft.com/office/drawing/2014/main" id="{BB77E20A-C207-CA08-2470-953059294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6234" y="4492804"/>
            <a:ext cx="1386788" cy="138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5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6A95-BD57-E14F-ACD3-B1D2876B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0F18-E1E6-80EF-9818-F5758975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1481"/>
          </a:xfrm>
        </p:spPr>
        <p:txBody>
          <a:bodyPr>
            <a:noAutofit/>
          </a:bodyPr>
          <a:lstStyle/>
          <a:p>
            <a:r>
              <a:rPr lang="en-US" sz="3600" dirty="0" err="1"/>
              <a:t>Metodologi</a:t>
            </a:r>
            <a:r>
              <a:rPr lang="en-US" sz="3600" dirty="0"/>
              <a:t> </a:t>
            </a:r>
            <a:r>
              <a:rPr lang="en-US" sz="3600" dirty="0" err="1"/>
              <a:t>Penelitian</a:t>
            </a:r>
            <a:r>
              <a:rPr lang="en-US" sz="3600" dirty="0"/>
              <a:t>: CNN 1D</a:t>
            </a:r>
            <a:endParaRPr lang="id-ID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89C0D-6F41-A6B1-AA14-A457E717861E}"/>
              </a:ext>
            </a:extLst>
          </p:cNvPr>
          <p:cNvSpPr txBox="1"/>
          <p:nvPr/>
        </p:nvSpPr>
        <p:spPr>
          <a:xfrm>
            <a:off x="995607" y="2427271"/>
            <a:ext cx="3388620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Input: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Sekuen</a:t>
            </a:r>
            <a:r>
              <a:rPr lang="en-US" dirty="0">
                <a:solidFill>
                  <a:sysClr val="windowText" lastClr="000000"/>
                </a:solidFill>
              </a:rPr>
              <a:t> R1 – R10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Curah </a:t>
            </a:r>
            <a:r>
              <a:rPr lang="en-US" dirty="0" err="1">
                <a:solidFill>
                  <a:sysClr val="windowText" lastClr="000000"/>
                </a:solidFill>
              </a:rPr>
              <a:t>hujan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harian</a:t>
            </a:r>
            <a:r>
              <a:rPr lang="en-US" dirty="0">
                <a:solidFill>
                  <a:sysClr val="windowText" lastClr="000000"/>
                </a:solidFill>
              </a:rPr>
              <a:t> per </a:t>
            </a:r>
            <a:r>
              <a:rPr lang="en-US" dirty="0" err="1">
                <a:solidFill>
                  <a:sysClr val="windowText" lastClr="000000"/>
                </a:solidFill>
              </a:rPr>
              <a:t>dasarian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0476B-9CF0-9875-B4BF-F68274C29973}"/>
              </a:ext>
            </a:extLst>
          </p:cNvPr>
          <p:cNvSpPr txBox="1"/>
          <p:nvPr/>
        </p:nvSpPr>
        <p:spPr>
          <a:xfrm>
            <a:off x="5126620" y="2565770"/>
            <a:ext cx="134806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ysClr val="windowText" lastClr="000000"/>
                </a:solidFill>
              </a:rPr>
              <a:t>Klasifikasi</a:t>
            </a:r>
            <a:r>
              <a:rPr lang="en-US" b="1" dirty="0">
                <a:solidFill>
                  <a:sysClr val="windowText" lastClr="000000"/>
                </a:solidFill>
              </a:rPr>
              <a:t>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CNN 1D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D4F68F-3E27-485C-08C2-079949808CAC}"/>
              </a:ext>
            </a:extLst>
          </p:cNvPr>
          <p:cNvCxnSpPr>
            <a:stCxn id="15" idx="0"/>
            <a:endCxn id="8" idx="2"/>
          </p:cNvCxnSpPr>
          <p:nvPr/>
        </p:nvCxnSpPr>
        <p:spPr>
          <a:xfrm flipV="1">
            <a:off x="2689917" y="3350601"/>
            <a:ext cx="0" cy="1427316"/>
          </a:xfrm>
          <a:prstGeom prst="straightConnector1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30EF9D-3E9A-FFC1-3B1B-702AE78D672D}"/>
              </a:ext>
            </a:extLst>
          </p:cNvPr>
          <p:cNvSpPr txBox="1"/>
          <p:nvPr/>
        </p:nvSpPr>
        <p:spPr>
          <a:xfrm>
            <a:off x="1338168" y="3879593"/>
            <a:ext cx="270349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Split data </a:t>
            </a:r>
            <a:r>
              <a:rPr lang="en-US" dirty="0" err="1">
                <a:solidFill>
                  <a:sysClr val="windowText" lastClr="000000"/>
                </a:solidFill>
              </a:rPr>
              <a:t>berbasis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waktu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EA615-F3EB-8CAC-A367-25673D6F1BC4}"/>
              </a:ext>
            </a:extLst>
          </p:cNvPr>
          <p:cNvSpPr txBox="1"/>
          <p:nvPr/>
        </p:nvSpPr>
        <p:spPr>
          <a:xfrm>
            <a:off x="1889217" y="4777917"/>
            <a:ext cx="1601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Early stopping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33D62-F283-23D0-B13E-3F7DCD9519F1}"/>
              </a:ext>
            </a:extLst>
          </p:cNvPr>
          <p:cNvSpPr txBox="1"/>
          <p:nvPr/>
        </p:nvSpPr>
        <p:spPr>
          <a:xfrm>
            <a:off x="7217074" y="2408160"/>
            <a:ext cx="12279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Evaluasi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POD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FAR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CSI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AUROC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B9F557-0A27-6F74-5548-E21CF46DCB0B}"/>
              </a:ext>
            </a:extLst>
          </p:cNvPr>
          <p:cNvCxnSpPr>
            <a:stCxn id="14" idx="0"/>
            <a:endCxn id="8" idx="2"/>
          </p:cNvCxnSpPr>
          <p:nvPr/>
        </p:nvCxnSpPr>
        <p:spPr>
          <a:xfrm flipV="1">
            <a:off x="2689917" y="3350601"/>
            <a:ext cx="0" cy="528992"/>
          </a:xfrm>
          <a:prstGeom prst="straightConnector1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AC6053-8C19-CF73-47BD-BDA67DF3209B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384227" y="2888936"/>
            <a:ext cx="742393" cy="0"/>
          </a:xfrm>
          <a:prstGeom prst="straightConnector1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1CC245-B7B4-9A7A-692E-04DA16DDC63E}"/>
              </a:ext>
            </a:extLst>
          </p:cNvPr>
          <p:cNvSpPr txBox="1"/>
          <p:nvPr/>
        </p:nvSpPr>
        <p:spPr>
          <a:xfrm>
            <a:off x="5126620" y="4347153"/>
            <a:ext cx="2825774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Output: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Deteksi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dini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hujan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ekstrem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8EA628B-015A-CD49-A728-B01DEF5CE75A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 rot="16200000" flipH="1">
            <a:off x="5602553" y="3410199"/>
            <a:ext cx="1135052" cy="738856"/>
          </a:xfrm>
          <a:prstGeom prst="bentConnector3">
            <a:avLst/>
          </a:prstGeom>
          <a:ln w="38100">
            <a:solidFill>
              <a:srgbClr val="B07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Warning with solid fill">
            <a:extLst>
              <a:ext uri="{FF2B5EF4-FFF2-40B4-BE49-F238E27FC236}">
                <a16:creationId xmlns:a16="http://schemas.microsoft.com/office/drawing/2014/main" id="{5E82C952-2AAB-0115-83E3-8A4E74A22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4185" y="5147249"/>
            <a:ext cx="914400" cy="914400"/>
          </a:xfrm>
          <a:prstGeom prst="rect">
            <a:avLst/>
          </a:prstGeom>
        </p:spPr>
      </p:pic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3320CF99-95EF-BD89-E3B3-09DEFB669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8585" y="5147249"/>
            <a:ext cx="914400" cy="914400"/>
          </a:xfrm>
          <a:prstGeom prst="rect">
            <a:avLst/>
          </a:prstGeom>
        </p:spPr>
      </p:pic>
      <p:pic>
        <p:nvPicPr>
          <p:cNvPr id="30" name="Graphic 29" descr="Warning with solid fill">
            <a:extLst>
              <a:ext uri="{FF2B5EF4-FFF2-40B4-BE49-F238E27FC236}">
                <a16:creationId xmlns:a16="http://schemas.microsoft.com/office/drawing/2014/main" id="{DA17B88B-D2E6-7D98-93DB-12694A28A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2985" y="51472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6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04B06-4B70-31E2-DD73-3D6E5ABD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Jadwal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C9BF01-76ED-2B08-96B8-3E79FC537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91203"/>
              </p:ext>
            </p:extLst>
          </p:nvPr>
        </p:nvGraphicFramePr>
        <p:xfrm>
          <a:off x="3170919" y="1280687"/>
          <a:ext cx="8499873" cy="4598905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310189">
                  <a:extLst>
                    <a:ext uri="{9D8B030D-6E8A-4147-A177-3AD203B41FA5}">
                      <a16:colId xmlns:a16="http://schemas.microsoft.com/office/drawing/2014/main" val="1930306619"/>
                    </a:ext>
                  </a:extLst>
                </a:gridCol>
                <a:gridCol w="4334195">
                  <a:extLst>
                    <a:ext uri="{9D8B030D-6E8A-4147-A177-3AD203B41FA5}">
                      <a16:colId xmlns:a16="http://schemas.microsoft.com/office/drawing/2014/main" val="2210727753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1330488895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3335913700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424597830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2940639891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1982709659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2338350966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3852373458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997597512"/>
                    </a:ext>
                  </a:extLst>
                </a:gridCol>
                <a:gridCol w="300940">
                  <a:extLst>
                    <a:ext uri="{9D8B030D-6E8A-4147-A177-3AD203B41FA5}">
                      <a16:colId xmlns:a16="http://schemas.microsoft.com/office/drawing/2014/main" val="766393917"/>
                    </a:ext>
                  </a:extLst>
                </a:gridCol>
                <a:gridCol w="382343">
                  <a:extLst>
                    <a:ext uri="{9D8B030D-6E8A-4147-A177-3AD203B41FA5}">
                      <a16:colId xmlns:a16="http://schemas.microsoft.com/office/drawing/2014/main" val="719229563"/>
                    </a:ext>
                  </a:extLst>
                </a:gridCol>
                <a:gridCol w="382343">
                  <a:extLst>
                    <a:ext uri="{9D8B030D-6E8A-4147-A177-3AD203B41FA5}">
                      <a16:colId xmlns:a16="http://schemas.microsoft.com/office/drawing/2014/main" val="258276808"/>
                    </a:ext>
                  </a:extLst>
                </a:gridCol>
                <a:gridCol w="382343">
                  <a:extLst>
                    <a:ext uri="{9D8B030D-6E8A-4147-A177-3AD203B41FA5}">
                      <a16:colId xmlns:a16="http://schemas.microsoft.com/office/drawing/2014/main" val="2007412637"/>
                    </a:ext>
                  </a:extLst>
                </a:gridCol>
              </a:tblGrid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No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 dirty="0">
                          <a:effectLst/>
                        </a:rPr>
                        <a:t>Kegiatan Utama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B1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B2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B3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B4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B5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B6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B7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B8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B9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B10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B11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B12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180038358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1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Identifikasi masalah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515016039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2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Studi literatur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513168507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3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Penyusunan metodologi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3358061879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4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Seminar proposal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303399843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5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Pengumpulan dan pemeriksaan data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496112356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6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Pengembangan dan pelatihan model Autoencoder (AE)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290701520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7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Klastering pada ruang laten dan evaluasi tipologi rejim hujan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553407138"/>
                  </a:ext>
                </a:extLst>
              </a:tr>
              <a:tr h="4827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8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Pengembangan dan pelatihan model CNN 1D untuk sinyal hujan lebat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092309467"/>
                  </a:ext>
                </a:extLst>
              </a:tr>
              <a:tr h="4827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9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Evaluasi kinerja CNN 1D (POD, FAR, CSI, AUROC), analisis kesalahan.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1723935908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10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Penyusunan Bab IV (Hasil dan Pembahasan)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2525848845"/>
                  </a:ext>
                </a:extLst>
              </a:tr>
              <a:tr h="24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11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Penyusunan Bab V (Simpulan dan Saran)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4221963215"/>
                  </a:ext>
                </a:extLst>
              </a:tr>
              <a:tr h="4827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 dirty="0">
                          <a:effectLst/>
                        </a:rPr>
                        <a:t>12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 dirty="0">
                          <a:effectLst/>
                        </a:rPr>
                        <a:t>Seminar hasil, perbaikan akhir naskah, persiapan administrasi sidang tesis, sidang tesis, dan penyerahan tesis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>
                          <a:effectLst/>
                        </a:rPr>
                        <a:t>✓</a:t>
                      </a:r>
                      <a:endParaRPr lang="id-ID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400" dirty="0">
                          <a:effectLst/>
                        </a:rPr>
                        <a:t>✓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21" marR="2021" marT="0" marB="0"/>
                </a:tc>
                <a:extLst>
                  <a:ext uri="{0D108BD9-81ED-4DB2-BD59-A6C34878D82A}">
                    <a16:rowId xmlns:a16="http://schemas.microsoft.com/office/drawing/2014/main" val="94456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16640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1002</Words>
  <Application>Microsoft Office PowerPoint</Application>
  <PresentationFormat>Widescreen</PresentationFormat>
  <Paragraphs>294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Narrow</vt:lpstr>
      <vt:lpstr>Arial</vt:lpstr>
      <vt:lpstr>Bierstadt</vt:lpstr>
      <vt:lpstr>Neue Haas Grotesk Text Pro</vt:lpstr>
      <vt:lpstr>Times New Roman</vt:lpstr>
      <vt:lpstr>GestaltVTI</vt:lpstr>
      <vt:lpstr>ANALISIS PENGELOMPOKAN POLA CURAH HUJAN BERBASIS AUTOENCODER DAN CONVOLUTIONAL NEURAL NETWORK  DI STASIUN METEOROLOGI MARITIM  KELAS I SERANG</vt:lpstr>
      <vt:lpstr>Tata Saji</vt:lpstr>
      <vt:lpstr>Latar Belakang</vt:lpstr>
      <vt:lpstr>Rumusan Masalah dan Manfaat Penelitian</vt:lpstr>
      <vt:lpstr>Penelitian Terdahulu</vt:lpstr>
      <vt:lpstr>Penelitian Terdahulu</vt:lpstr>
      <vt:lpstr>Data Penelitian</vt:lpstr>
      <vt:lpstr>Metodologi Penelitian: Tahapan Umum</vt:lpstr>
      <vt:lpstr>Metodologi Penelitian: Autoencoder + Klastering</vt:lpstr>
      <vt:lpstr>Metodologi Penelitian: CNN 1D</vt:lpstr>
      <vt:lpstr>Jadwal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Bayu Perdana</dc:creator>
  <cp:lastModifiedBy>Reza Bayu Perdana</cp:lastModifiedBy>
  <cp:revision>6</cp:revision>
  <dcterms:created xsi:type="dcterms:W3CDTF">2026-01-18T13:47:49Z</dcterms:created>
  <dcterms:modified xsi:type="dcterms:W3CDTF">2026-01-30T03:07:35Z</dcterms:modified>
</cp:coreProperties>
</file>