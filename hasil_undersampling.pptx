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CE1E-8F43-FCED-2185-8CCACE7B2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8F6D4-1253-70F5-6E4B-BB91A011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FE59A-D89C-1B1B-4FD3-82FEDB69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F6FE7-F33F-116A-6C3A-967130310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5800-7ADB-8486-2C5A-2DF034225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95447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9AA4-7B78-6F00-A4F1-5003C402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BCAC-091E-75C1-A97C-4CBF8B4FE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5BA27-4B70-4279-9944-68672BF14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E2D37-B0D2-2450-F1F7-889363CB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00CB-8DD7-982E-3E5C-5C40DE24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64649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797D-16B4-B8CC-B0A1-B50B66662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0F8B8-66C4-A54E-5893-FD8059C82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F3123-4026-F3D0-4179-2FB117BB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7443-B5E8-1685-2817-5C996813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29632-1095-33E6-E000-753AF546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7478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936E-9E60-5B97-EAF2-508B751B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5CB24-67F1-20E9-7D62-ED506B218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7DADA-B1E3-E2BE-6AD2-488532876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3D5B9-2B5A-F694-1148-9ACB6377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36C57-5A35-7A0D-B81D-CFFC623A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808BB-C11D-CEC6-AAA1-69569619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5585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DE1C-2893-E23A-7977-516933A17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875B4-2D6C-6776-6749-4C353E55E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DCDE7-C21D-382E-67CD-C1627E1FF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F1941-9987-2965-BD31-645B52C4D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0716E3-8ABD-D2B6-0BB8-99639DE33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3C6001-90D4-AD63-5197-C86277711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AFED14-1BC1-02ED-AA20-46E22C6B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A2088-45D6-509B-C0F1-E20DA1EB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9233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61CE-52DB-3EAD-0075-3E7C011C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8FC9B4-5428-39B8-92D5-F19E1217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08EC0-3AF2-B7B1-E039-F8B005082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F7058-1EF1-6A0F-71CD-616E2DAE9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389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A94FA-01FB-54AB-9D05-0735F49E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07B4E-5749-85D8-64D7-76FE265B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089CE-5688-7E0F-F1CD-61FB5BC7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2241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3C10-587E-D3EC-EB3C-EF5AD4A8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01803-D35F-1498-9AF5-B5CE4CE43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CCB54-CA9A-A207-F8AC-3FEF57677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CD5B0-C8C5-ED4D-4AA9-7F7D26906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53CD0-5A14-1FB4-620C-BCDFE53F7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F1DF0-D110-33DC-212C-1D272A71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7535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B5C6-FAC4-AF14-C42F-0450CB5A6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66C909-01FE-965F-1934-896CCEAC7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4E484-D73E-678F-EB08-D972AE6E3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58BB6-A673-65BD-EA55-8D6BFE83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9A8A1-0A61-5279-B447-1D0F6D29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2F129-F8C1-1B5D-6F7B-C3F2FEA7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1465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C484-485A-66E8-44D9-C966882D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0C845-B6F4-5B3E-FDE0-1681CAEC9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3D134-2F7A-7537-9E9A-3C24DB49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FC540-BA71-A275-4AC3-A6FE6D51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B3495-5340-1CBD-AA85-04ABC8AA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409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759AA0-E2D7-7907-5491-8B277D9E5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CEE27-DB69-F7C4-CBA3-21FD6E224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911D4-733F-1817-C53D-EE89D5D3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590CB-D1F9-93A6-A004-437DEFCF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82A97-7A7E-31D4-E48C-BAE5816B6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4134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6CBC2-9899-0DE0-7E17-8EFD23CD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9E0D3-A2BF-445F-1D40-2471CC841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D0E8C-696F-56CB-B535-A7B8CD05F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4DFE4-1B0C-4707-9C76-892293B5C8BC}" type="datetimeFigureOut">
              <a:rPr lang="id-ID" smtClean="0"/>
              <a:t>05/06/2026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B072-0A99-6704-1878-470C23FC9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89253-C9BB-C681-C3BC-9AB2E3590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D8E90-53DC-46B4-92FD-745C74E05BC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4827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F1A504-C68B-F77B-A777-DD18A7D08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31949"/>
              </p:ext>
            </p:extLst>
          </p:nvPr>
        </p:nvGraphicFramePr>
        <p:xfrm>
          <a:off x="1055077" y="1718268"/>
          <a:ext cx="9626315" cy="41348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1645">
                  <a:extLst>
                    <a:ext uri="{9D8B030D-6E8A-4147-A177-3AD203B41FA5}">
                      <a16:colId xmlns:a16="http://schemas.microsoft.com/office/drawing/2014/main" val="2006455317"/>
                    </a:ext>
                  </a:extLst>
                </a:gridCol>
                <a:gridCol w="1087125">
                  <a:extLst>
                    <a:ext uri="{9D8B030D-6E8A-4147-A177-3AD203B41FA5}">
                      <a16:colId xmlns:a16="http://schemas.microsoft.com/office/drawing/2014/main" val="3731772683"/>
                    </a:ext>
                  </a:extLst>
                </a:gridCol>
                <a:gridCol w="859179">
                  <a:extLst>
                    <a:ext uri="{9D8B030D-6E8A-4147-A177-3AD203B41FA5}">
                      <a16:colId xmlns:a16="http://schemas.microsoft.com/office/drawing/2014/main" val="2292483173"/>
                    </a:ext>
                  </a:extLst>
                </a:gridCol>
                <a:gridCol w="911783">
                  <a:extLst>
                    <a:ext uri="{9D8B030D-6E8A-4147-A177-3AD203B41FA5}">
                      <a16:colId xmlns:a16="http://schemas.microsoft.com/office/drawing/2014/main" val="3282094214"/>
                    </a:ext>
                  </a:extLst>
                </a:gridCol>
                <a:gridCol w="859179">
                  <a:extLst>
                    <a:ext uri="{9D8B030D-6E8A-4147-A177-3AD203B41FA5}">
                      <a16:colId xmlns:a16="http://schemas.microsoft.com/office/drawing/2014/main" val="3001772650"/>
                    </a:ext>
                  </a:extLst>
                </a:gridCol>
                <a:gridCol w="859179">
                  <a:extLst>
                    <a:ext uri="{9D8B030D-6E8A-4147-A177-3AD203B41FA5}">
                      <a16:colId xmlns:a16="http://schemas.microsoft.com/office/drawing/2014/main" val="633083677"/>
                    </a:ext>
                  </a:extLst>
                </a:gridCol>
                <a:gridCol w="841645">
                  <a:extLst>
                    <a:ext uri="{9D8B030D-6E8A-4147-A177-3AD203B41FA5}">
                      <a16:colId xmlns:a16="http://schemas.microsoft.com/office/drawing/2014/main" val="436608256"/>
                    </a:ext>
                  </a:extLst>
                </a:gridCol>
                <a:gridCol w="841645">
                  <a:extLst>
                    <a:ext uri="{9D8B030D-6E8A-4147-A177-3AD203B41FA5}">
                      <a16:colId xmlns:a16="http://schemas.microsoft.com/office/drawing/2014/main" val="3398320364"/>
                    </a:ext>
                  </a:extLst>
                </a:gridCol>
                <a:gridCol w="841645">
                  <a:extLst>
                    <a:ext uri="{9D8B030D-6E8A-4147-A177-3AD203B41FA5}">
                      <a16:colId xmlns:a16="http://schemas.microsoft.com/office/drawing/2014/main" val="691954034"/>
                    </a:ext>
                  </a:extLst>
                </a:gridCol>
                <a:gridCol w="841645">
                  <a:extLst>
                    <a:ext uri="{9D8B030D-6E8A-4147-A177-3AD203B41FA5}">
                      <a16:colId xmlns:a16="http://schemas.microsoft.com/office/drawing/2014/main" val="1805642557"/>
                    </a:ext>
                  </a:extLst>
                </a:gridCol>
                <a:gridCol w="841645">
                  <a:extLst>
                    <a:ext uri="{9D8B030D-6E8A-4147-A177-3AD203B41FA5}">
                      <a16:colId xmlns:a16="http://schemas.microsoft.com/office/drawing/2014/main" val="3191202083"/>
                    </a:ext>
                  </a:extLst>
                </a:gridCol>
              </a:tblGrid>
              <a:tr h="6891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Skenario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Rasio Train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POD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FAR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CSI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AUROC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TP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FP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FN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>
                          <a:effectLst/>
                        </a:rPr>
                        <a:t>TN</a:t>
                      </a:r>
                      <a:endParaRPr lang="id-ID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b="1" u="none" strike="noStrike" dirty="0">
                          <a:effectLst/>
                        </a:rPr>
                        <a:t>Akurasi</a:t>
                      </a:r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24667043"/>
                  </a:ext>
                </a:extLst>
              </a:tr>
              <a:tr h="6891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 dirty="0" err="1">
                          <a:effectLst/>
                        </a:rPr>
                        <a:t>Original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asli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0.086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0.958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0.029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0.667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3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69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32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2088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0.954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01842228"/>
                  </a:ext>
                </a:extLst>
              </a:tr>
              <a:tr h="6891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US 1:1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1:1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0.000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1.000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0.000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0.620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25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35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2132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69797112"/>
                  </a:ext>
                </a:extLst>
              </a:tr>
              <a:tr h="6891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US 1:3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1:3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0.143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0.978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0.020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0.637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5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220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30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1937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77784981"/>
                  </a:ext>
                </a:extLst>
              </a:tr>
              <a:tr h="6891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US 1:5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1:5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0.086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0.980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0.017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0.642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3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144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>
                          <a:effectLst/>
                        </a:rPr>
                        <a:t>32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2013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23093263"/>
                  </a:ext>
                </a:extLst>
              </a:tr>
              <a:tr h="6891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US 1:10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1:10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0.029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0.995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0.005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0.579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1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187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34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d-ID" sz="1600" u="none" strike="noStrike" dirty="0">
                          <a:effectLst/>
                        </a:rPr>
                        <a:t>1970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d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0.899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106156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78DFD5-757F-95A3-F6FD-94DA28121AE1}"/>
              </a:ext>
            </a:extLst>
          </p:cNvPr>
          <p:cNvSpPr txBox="1"/>
          <p:nvPr/>
        </p:nvSpPr>
        <p:spPr>
          <a:xfrm>
            <a:off x="4121089" y="1185706"/>
            <a:ext cx="367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Hasil </a:t>
            </a:r>
            <a:r>
              <a:rPr lang="en-US" b="1" dirty="0" err="1"/>
              <a:t>Eksperimen</a:t>
            </a:r>
            <a:r>
              <a:rPr lang="en-US" b="1" dirty="0"/>
              <a:t> </a:t>
            </a:r>
            <a:r>
              <a:rPr lang="en-US" b="1" dirty="0" err="1"/>
              <a:t>Undersampling</a:t>
            </a:r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855309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E6DAB9-D563-D329-A39E-E5CC4EDEAAC7}"/>
              </a:ext>
            </a:extLst>
          </p:cNvPr>
          <p:cNvSpPr txBox="1"/>
          <p:nvPr/>
        </p:nvSpPr>
        <p:spPr>
          <a:xfrm>
            <a:off x="876719" y="1467788"/>
            <a:ext cx="60943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Menga</a:t>
            </a:r>
            <a:r>
              <a:rPr lang="id-ID" dirty="0" err="1"/>
              <a:t>mbil</a:t>
            </a:r>
            <a:r>
              <a:rPr lang="id-ID" dirty="0"/>
              <a:t> semua data training. </a:t>
            </a:r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Pisahkan:</a:t>
            </a:r>
            <a:r>
              <a:rPr lang="en-US" dirty="0"/>
              <a:t> </a:t>
            </a:r>
            <a:br>
              <a:rPr lang="en-US" dirty="0"/>
            </a:br>
            <a:r>
              <a:rPr lang="id-ID" dirty="0">
                <a:latin typeface="Courier New" panose="02070309020205020404" pitchFamily="49" charset="0"/>
              </a:rPr>
              <a:t>positif = Label_Lebat_50 = 1</a:t>
            </a:r>
            <a:br>
              <a:rPr lang="id-ID" dirty="0">
                <a:latin typeface="Courier New" panose="02070309020205020404" pitchFamily="49" charset="0"/>
              </a:rPr>
            </a:br>
            <a:r>
              <a:rPr lang="id-ID" dirty="0">
                <a:latin typeface="Courier New" panose="02070309020205020404" pitchFamily="49" charset="0"/>
              </a:rPr>
              <a:t>negatif = Label_Lebat_50 = 0</a:t>
            </a:r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Semua data positif dipertahankan. 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Tentukan jumlah negatif yang dibutuhkan sesuai rasio.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Hitung proporsi data negatif per bulan target. 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Ambil sampel negatif dari masing-masing bulan secara proporsional. 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Menggabungkan</a:t>
            </a:r>
            <a:r>
              <a:rPr lang="id-ID" dirty="0"/>
              <a:t> kembali positif + negatif hasil sampling. 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id-ID" dirty="0"/>
              <a:t>Acak urutan data training hasil gabungan sebelum dilatih.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5FD44-6181-DEDC-E400-9DEC82297CFF}"/>
              </a:ext>
            </a:extLst>
          </p:cNvPr>
          <p:cNvSpPr txBox="1"/>
          <p:nvPr/>
        </p:nvSpPr>
        <p:spPr>
          <a:xfrm>
            <a:off x="876719" y="934497"/>
            <a:ext cx="2502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Teknis </a:t>
            </a:r>
            <a:r>
              <a:rPr lang="en-US" b="1" dirty="0" err="1"/>
              <a:t>Undersampling</a:t>
            </a:r>
            <a:endParaRPr lang="id-ID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D2516F-2F33-E03B-D25A-DB58A7AF0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043" y="781445"/>
            <a:ext cx="4593780" cy="2552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F7B0A9-6E05-A758-9FB5-F4E62DF31DDC}"/>
              </a:ext>
            </a:extLst>
          </p:cNvPr>
          <p:cNvSpPr txBox="1"/>
          <p:nvPr/>
        </p:nvSpPr>
        <p:spPr>
          <a:xfrm>
            <a:off x="8169914" y="3524456"/>
            <a:ext cx="26718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Kurva loss juga menunjukkan tanda kurang sehat: training loss terus turun, tetapi </a:t>
            </a:r>
            <a:r>
              <a:rPr lang="id-ID" dirty="0" err="1"/>
              <a:t>validation</a:t>
            </a:r>
            <a:r>
              <a:rPr lang="id-ID" dirty="0"/>
              <a:t> loss turun sebentar lalu naik kembali. Ini indikasi </a:t>
            </a:r>
            <a:r>
              <a:rPr lang="id-ID" b="1" dirty="0"/>
              <a:t>overfitting</a:t>
            </a:r>
            <a:r>
              <a:rPr lang="id-ID" dirty="0"/>
              <a:t> terhadap data latih yang sudah </a:t>
            </a:r>
            <a:r>
              <a:rPr lang="id-ID" dirty="0" err="1"/>
              <a:t>dipangka</a:t>
            </a:r>
            <a:r>
              <a:rPr lang="en-US" dirty="0"/>
              <a:t>s</a:t>
            </a:r>
            <a:r>
              <a:rPr lang="id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4902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184</Words>
  <Application>Microsoft Office PowerPoint</Application>
  <PresentationFormat>Widescreen</PresentationFormat>
  <Paragraphs>77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Bayu Perdana</dc:creator>
  <cp:lastModifiedBy>Reza Bayu Perdana</cp:lastModifiedBy>
  <cp:revision>1</cp:revision>
  <dcterms:created xsi:type="dcterms:W3CDTF">2026-06-05T12:27:17Z</dcterms:created>
  <dcterms:modified xsi:type="dcterms:W3CDTF">2026-06-05T12:35:43Z</dcterms:modified>
</cp:coreProperties>
</file>